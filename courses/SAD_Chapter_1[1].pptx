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321" r:id="rId3"/>
    <p:sldId id="258" r:id="rId4"/>
    <p:sldId id="309" r:id="rId5"/>
    <p:sldId id="310" r:id="rId6"/>
    <p:sldId id="316" r:id="rId7"/>
    <p:sldId id="398" r:id="rId8"/>
    <p:sldId id="399" r:id="rId9"/>
    <p:sldId id="400" r:id="rId10"/>
    <p:sldId id="317" r:id="rId11"/>
    <p:sldId id="416" r:id="rId12"/>
    <p:sldId id="401" r:id="rId13"/>
    <p:sldId id="421" r:id="rId14"/>
    <p:sldId id="402" r:id="rId15"/>
    <p:sldId id="403" r:id="rId16"/>
    <p:sldId id="404" r:id="rId17"/>
    <p:sldId id="422" r:id="rId18"/>
    <p:sldId id="423" r:id="rId19"/>
    <p:sldId id="424" r:id="rId20"/>
    <p:sldId id="405" r:id="rId21"/>
    <p:sldId id="406" r:id="rId22"/>
    <p:sldId id="407" r:id="rId23"/>
    <p:sldId id="408" r:id="rId24"/>
    <p:sldId id="409" r:id="rId25"/>
    <p:sldId id="410" r:id="rId26"/>
    <p:sldId id="411" r:id="rId27"/>
    <p:sldId id="412" r:id="rId28"/>
    <p:sldId id="413" r:id="rId29"/>
    <p:sldId id="414" r:id="rId30"/>
    <p:sldId id="415" r:id="rId31"/>
    <p:sldId id="417" r:id="rId32"/>
    <p:sldId id="418" r:id="rId33"/>
    <p:sldId id="261" r:id="rId34"/>
    <p:sldId id="419" r:id="rId35"/>
    <p:sldId id="357" r:id="rId36"/>
  </p:sldIdLst>
  <p:sldSz cx="9144000" cy="6858000" type="screen4x3"/>
  <p:notesSz cx="7302500" cy="95885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5" userDrawn="1">
          <p15:clr>
            <a:srgbClr val="A4A3A4"/>
          </p15:clr>
        </p15:guide>
        <p15:guide id="2" orient="horz" pos="1192" userDrawn="1">
          <p15:clr>
            <a:srgbClr val="A4A3A4"/>
          </p15:clr>
        </p15:guide>
        <p15:guide id="3" orient="horz" pos="1632" userDrawn="1">
          <p15:clr>
            <a:srgbClr val="A4A3A4"/>
          </p15:clr>
        </p15:guide>
        <p15:guide id="4" pos="2846" userDrawn="1">
          <p15:clr>
            <a:srgbClr val="A4A3A4"/>
          </p15:clr>
        </p15:guide>
        <p15:guide id="5" pos="288" userDrawn="1">
          <p15:clr>
            <a:srgbClr val="A4A3A4"/>
          </p15:clr>
        </p15:guide>
        <p15:guide id="6" pos="3792" userDrawn="1">
          <p15:clr>
            <a:srgbClr val="A4A3A4"/>
          </p15:clr>
        </p15:guide>
        <p15:guide id="7" pos="6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BA2F24"/>
    <a:srgbClr val="2181B7"/>
    <a:srgbClr val="DC544A"/>
    <a:srgbClr val="336699"/>
    <a:srgbClr val="00CCFF"/>
    <a:srgbClr val="0099CC"/>
    <a:srgbClr val="9F9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 showGuides="1">
      <p:cViewPr>
        <p:scale>
          <a:sx n="60" d="100"/>
          <a:sy n="60" d="100"/>
        </p:scale>
        <p:origin x="-1842" y="-714"/>
      </p:cViewPr>
      <p:guideLst>
        <p:guide orient="horz" pos="2185"/>
        <p:guide orient="horz" pos="1192"/>
        <p:guide orient="horz" pos="1632"/>
        <p:guide pos="2846"/>
        <p:guide pos="288"/>
        <p:guide pos="3792"/>
        <p:guide pos="6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08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0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515" tIns="48257" rIns="96515" bIns="48257" numCol="1" anchor="t" anchorCtr="0" compatLnSpc="1"/>
          <a:lstStyle>
            <a:lvl1pPr defTabSz="965200">
              <a:defRPr sz="1300"/>
            </a:lvl1pPr>
          </a:lstStyle>
          <a:p>
            <a:pPr marL="0" marR="0" lvl="0" indent="0" algn="l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" pitchFamily="18" charset="0"/>
              <a:ea typeface="+mn-ea"/>
              <a:cs typeface="+mn-cs"/>
            </a:endParaRP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515" tIns="48257" rIns="96515" bIns="48257" numCol="1" anchor="t" anchorCtr="0" compatLnSpc="1"/>
          <a:lstStyle>
            <a:lvl1pPr algn="r" defTabSz="965200">
              <a:defRPr sz="1300"/>
            </a:lvl1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" pitchFamily="18" charset="0"/>
              <a:ea typeface="+mn-ea"/>
              <a:cs typeface="+mn-cs"/>
            </a:endParaRPr>
          </a:p>
        </p:txBody>
      </p:sp>
      <p:sp>
        <p:nvSpPr>
          <p:cNvPr id="1802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515" tIns="48257" rIns="96515" bIns="48257" numCol="1" anchor="b" anchorCtr="0" compatLnSpc="1"/>
          <a:lstStyle>
            <a:lvl1pPr defTabSz="965200">
              <a:defRPr sz="1300"/>
            </a:lvl1pPr>
          </a:lstStyle>
          <a:p>
            <a:pPr marL="0" marR="0" lvl="0" indent="0" algn="l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" pitchFamily="18" charset="0"/>
              <a:ea typeface="+mn-ea"/>
              <a:cs typeface="+mn-cs"/>
            </a:endParaRPr>
          </a:p>
        </p:txBody>
      </p:sp>
      <p:sp>
        <p:nvSpPr>
          <p:cNvPr id="1802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515" tIns="48257" rIns="96515" bIns="48257" numCol="1" anchor="b" anchorCtr="0" compatLnSpc="1"/>
          <a:p>
            <a:pPr lvl="0" algn="r" defTabSz="965200">
              <a:buNone/>
            </a:pPr>
            <a:fld id="{9A0DB2DC-4C9A-4742-B13C-FB6460FD3503}" type="slidenum">
              <a:rPr lang="en-US" altLang="en-US" sz="1300" dirty="0"/>
            </a:fld>
            <a:endParaRPr lang="en-US" altLang="en-US" sz="13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388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" pitchFamily="18" charset="0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37025" y="0"/>
            <a:ext cx="316388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3F07E22-E896-476E-896F-7CB222A0CFB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" pitchFamily="18" charset="0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" pitchFamily="18" charset="0"/>
              <a:ea typeface="+mn-ea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4125" y="719138"/>
            <a:ext cx="4794250" cy="3595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07488"/>
            <a:ext cx="316388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37025" y="9107488"/>
            <a:ext cx="3163888" cy="479425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/>
            <a:fld id="{9A0DB2DC-4C9A-4742-B13C-FB6460FD3503}" type="slidenum">
              <a:rPr lang="en-US" sz="1200" dirty="0"/>
            </a:fld>
            <a:endParaRPr 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Prepared by Aklilu Elias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spcBef>
                <a:spcPct val="50000"/>
              </a:spcBef>
              <a:buNone/>
            </a:pPr>
            <a:fld id="{9A0DB2DC-4C9A-4742-B13C-FB6460FD3503}" type="slidenum">
              <a:rPr lang="en-US" altLang="en-US" dirty="0">
                <a:solidFill>
                  <a:srgbClr val="FFFFFF"/>
                </a:solidFill>
                <a:latin typeface="Arial Narrow" panose="020B0606020202030204" pitchFamily="34" charset="0"/>
              </a:rPr>
            </a:fld>
            <a:endParaRPr lang="en-US" altLang="en-US" dirty="0">
              <a:solidFill>
                <a:srgbClr val="FFFFFF"/>
              </a:solidFill>
              <a:latin typeface="Arial Narrow" panose="020B0606020202030204" pitchFamily="34" charset="0"/>
            </a:endParaRPr>
          </a:p>
        </p:txBody>
      </p:sp>
      <p:pic>
        <p:nvPicPr>
          <p:cNvPr id="2050" name="Picture 9" descr="DCfun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Prepared by Aklilu Elias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spcBef>
                <a:spcPct val="50000"/>
              </a:spcBef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Times" pitchFamily="18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Prepared by Aklilu Elias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spcBef>
                <a:spcPct val="50000"/>
              </a:spcBef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Times" pitchFamily="18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Prepared by Aklilu Elias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spcBef>
                <a:spcPct val="50000"/>
              </a:spcBef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Times" pitchFamily="18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Prepared by Aklilu Elias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spcBef>
                <a:spcPct val="50000"/>
              </a:spcBef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Times" pitchFamily="18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Prepared by Aklilu Elias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spcBef>
                <a:spcPct val="50000"/>
              </a:spcBef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Times" pitchFamily="18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Prepared by Aklilu Elias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spcBef>
                <a:spcPct val="50000"/>
              </a:spcBef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Times" pitchFamily="18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Prepared by Aklilu Elias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spcBef>
                <a:spcPct val="50000"/>
              </a:spcBef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Times" pitchFamily="18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Prepared by Aklilu Elias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spcBef>
                <a:spcPct val="50000"/>
              </a:spcBef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Times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Prepared by Aklilu Elias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spcBef>
                <a:spcPct val="50000"/>
              </a:spcBef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Times" pitchFamily="18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Prepared by Aklilu Elias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spcBef>
                <a:spcPct val="50000"/>
              </a:spcBef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Times" pitchFamily="18" charset="0"/>
            </a:endParaRP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Prepared by Aklilu Elias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>
              <a:spcBef>
                <a:spcPct val="50000"/>
              </a:spcBef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Times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3"/>
          <p:cNvSpPr>
            <a:spLocks noGrp="1"/>
          </p:cNvSpPr>
          <p:nvPr>
            <p:ph idx="1"/>
          </p:nvPr>
        </p:nvSpPr>
        <p:spPr>
          <a:xfrm>
            <a:off x="685800" y="1600200"/>
            <a:ext cx="8283575" cy="586105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en-US" sz="5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Chapter 1 </a:t>
            </a:r>
            <a:endParaRPr lang="en-US" altLang="en-US" sz="5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en-US" altLang="en-US" sz="3200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altLang="en-US" b="1" dirty="0">
                <a:solidFill>
                  <a:srgbClr val="0070C0"/>
                </a:solidFill>
              </a:rPr>
              <a:t>The System Development Life Cycle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  <p:sp>
        <p:nvSpPr>
          <p:cNvPr id="3076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5pPr>
          </a:lstStyle>
          <a:p>
            <a:pPr lvl="0" algn="r">
              <a:spcBef>
                <a:spcPct val="50000"/>
              </a:spcBef>
              <a:buNone/>
            </a:pPr>
            <a:fld id="{9A0DB2DC-4C9A-4742-B13C-FB6460FD3503}" type="slidenum">
              <a:rPr lang="en-US" altLang="en-US" sz="1400" dirty="0">
                <a:latin typeface="Arial Narrow" panose="020B0606020202030204" pitchFamily="34" charset="0"/>
              </a:rPr>
            </a:fld>
            <a:endParaRPr lang="en-US" altLang="en-US" sz="14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02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5pPr>
          </a:lstStyle>
          <a:p>
            <a:pPr lvl="0" algn="r">
              <a:spcBef>
                <a:spcPct val="50000"/>
              </a:spcBef>
              <a:buNone/>
            </a:pPr>
            <a:fld id="{9A0DB2DC-4C9A-4742-B13C-FB6460FD3503}" type="slidenum">
              <a:rPr lang="en-US" altLang="en-US" sz="1400" dirty="0">
                <a:latin typeface="Arial Narrow" panose="020B0606020202030204" pitchFamily="34" charset="0"/>
              </a:rPr>
            </a:fld>
            <a:endParaRPr lang="en-US" altLang="en-US" sz="1400" dirty="0">
              <a:latin typeface="Arial Narrow" panose="020B060602020203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85115" y="313055"/>
            <a:ext cx="8620760" cy="6084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3200" b="1" dirty="0">
                <a:solidFill>
                  <a:srgbClr val="0070C0"/>
                </a:solidFill>
                <a:latin typeface="Bahnschrift SemiCondensed" panose="020B0502040204020203" pitchFamily="34" charset="0"/>
                <a:sym typeface="+mn-ea"/>
              </a:rPr>
              <a:t>What is System?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 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84505" lvl="0" indent="-457200">
              <a:buFont typeface="Wingdings" panose="05000000000000000000" pitchFamily="2" charset="2"/>
              <a:buChar char="Ø"/>
            </a:pPr>
            <a:r>
              <a:rPr lang="en-US" sz="3200" dirty="0">
                <a:sym typeface="+mn-ea"/>
              </a:rPr>
              <a:t>a system refers to a collection of interrelated components that work together to achieve a common objective.</a:t>
            </a:r>
            <a:endParaRPr lang="en-US" sz="3200" dirty="0"/>
          </a:p>
          <a:p>
            <a:pPr marL="484505" indent="-457200">
              <a:buFont typeface="Wingdings" panose="05000000000000000000" pitchFamily="2" charset="2"/>
              <a:buChar char="Ø"/>
            </a:pPr>
            <a:r>
              <a:rPr lang="en-US" sz="3200" i="1" dirty="0">
                <a:sym typeface="+mn-ea"/>
              </a:rPr>
              <a:t>A system is “an orderly grouping of interdependent components linked together according to a plan to achieve a specific goal.”</a:t>
            </a:r>
            <a:endParaRPr lang="en-US" sz="3200" dirty="0"/>
          </a:p>
          <a:p>
            <a:pPr marL="484505" lvl="0" indent="-457200">
              <a:buFont typeface="Wingdings" panose="05000000000000000000" pitchFamily="2" charset="2"/>
              <a:buChar char="Ø"/>
            </a:pPr>
            <a:r>
              <a:rPr lang="en-US" sz="3200" dirty="0">
                <a:sym typeface="+mn-ea"/>
              </a:rPr>
              <a:t>It can be a </a:t>
            </a:r>
            <a:r>
              <a:rPr lang="en-US" sz="3200" b="1" dirty="0">
                <a:sym typeface="+mn-ea"/>
              </a:rPr>
              <a:t>physical</a:t>
            </a:r>
            <a:r>
              <a:rPr lang="en-US" sz="3200" dirty="0">
                <a:sym typeface="+mn-ea"/>
              </a:rPr>
              <a:t> or </a:t>
            </a:r>
            <a:r>
              <a:rPr lang="en-US" sz="3200" b="1" dirty="0">
                <a:sym typeface="+mn-ea"/>
              </a:rPr>
              <a:t>conceptual</a:t>
            </a:r>
            <a:r>
              <a:rPr lang="en-US" sz="3200" dirty="0">
                <a:sym typeface="+mn-ea"/>
              </a:rPr>
              <a:t> entity composed of people, processes, software, hardware, and data.</a:t>
            </a:r>
            <a:endParaRPr lang="en-US" sz="3200" dirty="0"/>
          </a:p>
          <a:p>
            <a:pPr marL="484505" lvl="0" indent="-457200">
              <a:buFont typeface="Wingdings" panose="05000000000000000000" pitchFamily="2" charset="2"/>
              <a:buChar char="Ø"/>
            </a:pPr>
            <a:r>
              <a:rPr lang="en-US" sz="3200" dirty="0">
                <a:sym typeface="+mn-ea"/>
              </a:rPr>
              <a:t>SAD focuses on </a:t>
            </a:r>
            <a:r>
              <a:rPr lang="en-US" sz="3200" dirty="0">
                <a:solidFill>
                  <a:srgbClr val="FF0000"/>
                </a:solidFill>
                <a:sym typeface="+mn-ea"/>
              </a:rPr>
              <a:t>understanding</a:t>
            </a:r>
            <a:r>
              <a:rPr lang="en-US" sz="3200" dirty="0">
                <a:sym typeface="+mn-ea"/>
              </a:rPr>
              <a:t>, </a:t>
            </a:r>
            <a:r>
              <a:rPr lang="en-US" sz="3200" dirty="0">
                <a:solidFill>
                  <a:srgbClr val="FF0000"/>
                </a:solidFill>
                <a:sym typeface="+mn-ea"/>
              </a:rPr>
              <a:t>designing</a:t>
            </a:r>
            <a:r>
              <a:rPr lang="en-US" sz="3200" dirty="0">
                <a:sym typeface="+mn-ea"/>
              </a:rPr>
              <a:t>, and </a:t>
            </a:r>
            <a:r>
              <a:rPr lang="en-US" sz="3200" dirty="0">
                <a:solidFill>
                  <a:srgbClr val="FF0000"/>
                </a:solidFill>
                <a:sym typeface="+mn-ea"/>
              </a:rPr>
              <a:t>implementing</a:t>
            </a:r>
            <a:r>
              <a:rPr lang="en-US" sz="3200" dirty="0">
                <a:sym typeface="+mn-ea"/>
              </a:rPr>
              <a:t> systems to meet specific business needs.</a:t>
            </a:r>
            <a:endParaRPr lang="en-US" sz="3200" dirty="0">
              <a:sym typeface="+mn-ea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457200" y="609600"/>
            <a:ext cx="8072755" cy="58547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en-US" dirty="0"/>
              <a:t>The 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system characteristics</a:t>
            </a:r>
            <a:r>
              <a:rPr lang="en-US" altLang="en-US" dirty="0"/>
              <a:t> include:</a:t>
            </a:r>
            <a:endParaRPr lang="en-US" altLang="en-US" dirty="0"/>
          </a:p>
        </p:txBody>
      </p:sp>
      <p:pic>
        <p:nvPicPr>
          <p:cNvPr id="5124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00" y="1301750"/>
            <a:ext cx="8813800" cy="548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6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5pPr>
          </a:lstStyle>
          <a:p>
            <a:pPr lvl="0" algn="r">
              <a:spcBef>
                <a:spcPct val="50000"/>
              </a:spcBef>
              <a:buNone/>
            </a:pPr>
            <a:fld id="{9A0DB2DC-4C9A-4742-B13C-FB6460FD3503}" type="slidenum">
              <a:rPr lang="en-US" altLang="en-US" sz="1400" dirty="0">
                <a:latin typeface="Arial Narrow" panose="020B0606020202030204" pitchFamily="34" charset="0"/>
              </a:rPr>
            </a:fld>
            <a:endParaRPr lang="en-US" altLang="en-US" sz="14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304800" y="609283"/>
            <a:ext cx="8585200" cy="585787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None/>
            </a:pP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charset="0"/>
              </a:rPr>
              <a:t>The main system characteristics include:</a:t>
            </a:r>
            <a:endParaRPr lang="en-US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Times New Roman" panose="02020603050405020304" charset="0"/>
            </a:endParaRPr>
          </a:p>
        </p:txBody>
      </p:sp>
      <p:sp>
        <p:nvSpPr>
          <p:cNvPr id="6148" name="TextBox 2"/>
          <p:cNvSpPr txBox="1"/>
          <p:nvPr/>
        </p:nvSpPr>
        <p:spPr>
          <a:xfrm>
            <a:off x="762000" y="1676400"/>
            <a:ext cx="7620000" cy="3987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Interrelated components</a:t>
            </a: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Boundary</a:t>
            </a: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Purpose</a:t>
            </a: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Environment</a:t>
            </a: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Interfaces</a:t>
            </a: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Constraints</a:t>
            </a:r>
            <a:endParaRPr lang="en-US" alt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Input</a:t>
            </a:r>
            <a:endParaRPr lang="en-US" altLang="en-US" sz="2800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Output </a:t>
            </a:r>
            <a:endParaRPr lang="en-US" altLang="en-US" sz="2800" dirty="0">
              <a:latin typeface="Times New Roman" panose="02020603050405020304" charset="0"/>
              <a:ea typeface="Times New Roman" panose="02020603050405020304" charset="0"/>
            </a:endParaRPr>
          </a:p>
        </p:txBody>
      </p:sp>
      <p:sp>
        <p:nvSpPr>
          <p:cNvPr id="6150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5pPr>
          </a:lstStyle>
          <a:p>
            <a:pPr lvl="0" algn="r">
              <a:spcBef>
                <a:spcPct val="50000"/>
              </a:spcBef>
              <a:buNone/>
            </a:pPr>
            <a:fld id="{9A0DB2DC-4C9A-4742-B13C-FB6460FD3503}" type="slidenum">
              <a:rPr lang="en-US" altLang="en-US" sz="1400" dirty="0">
                <a:latin typeface="Arial Narrow" panose="020B0606020202030204" pitchFamily="34" charset="0"/>
              </a:rPr>
            </a:fld>
            <a:endParaRPr lang="en-US" altLang="en-US" sz="14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304800" y="505143"/>
            <a:ext cx="8585200" cy="585787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None/>
            </a:pP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charset="0"/>
              </a:rPr>
              <a:t>What is System Analysis and Design(SAD)?</a:t>
            </a:r>
            <a:endParaRPr lang="en-US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3380" y="1219200"/>
            <a:ext cx="8589645" cy="5123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altLang="en-US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Times New Roman" panose="02020603050405020304" charset="0"/>
                <a:cs typeface="+mn-cs"/>
              </a:rPr>
              <a:t>Systems Analysis</a:t>
            </a:r>
            <a:r>
              <a:rPr kumimoji="0" lang="en-US" altLang="en-US" kern="1200" cap="none" spc="0" normalizeH="0" baseline="0" noProof="0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charset="0"/>
                <a:cs typeface="+mn-cs"/>
              </a:rPr>
              <a:t> and </a:t>
            </a:r>
            <a:r>
              <a:rPr kumimoji="0" lang="en-US" altLang="en-US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Times New Roman" panose="02020603050405020304" charset="0"/>
                <a:cs typeface="+mn-cs"/>
              </a:rPr>
              <a:t>Design </a:t>
            </a:r>
            <a:r>
              <a:rPr kumimoji="0" lang="en-US" altLang="en-US" kern="1200" cap="none" spc="0" normalizeH="0" baseline="0" noProof="0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charset="0"/>
                <a:cs typeface="+mn-cs"/>
              </a:rPr>
              <a:t>(SAD) is a </a:t>
            </a:r>
            <a:r>
              <a:rPr kumimoji="0" lang="en-US" altLang="en-US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Times New Roman" panose="02020603050405020304" charset="0"/>
                <a:cs typeface="+mn-cs"/>
              </a:rPr>
              <a:t>structured process</a:t>
            </a:r>
            <a:r>
              <a:rPr kumimoji="0" lang="en-US" altLang="en-US" kern="1200" cap="none" spc="0" normalizeH="0" baseline="0" noProof="0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charset="0"/>
                <a:cs typeface="+mn-cs"/>
              </a:rPr>
              <a:t> used to </a:t>
            </a:r>
            <a:r>
              <a:rPr kumimoji="0" lang="en-US" altLang="en-US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Times New Roman" panose="02020603050405020304" charset="0"/>
                <a:cs typeface="+mn-cs"/>
              </a:rPr>
              <a:t>study</a:t>
            </a:r>
            <a:r>
              <a:rPr kumimoji="0" lang="en-US" altLang="en-US" kern="1200" cap="none" spc="0" normalizeH="0" baseline="0" noProof="0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charset="0"/>
                <a:cs typeface="+mn-cs"/>
              </a:rPr>
              <a:t>, </a:t>
            </a:r>
            <a:r>
              <a:rPr kumimoji="0" lang="en-US" altLang="en-US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Times New Roman" panose="02020603050405020304" charset="0"/>
                <a:cs typeface="+mn-cs"/>
              </a:rPr>
              <a:t>understand</a:t>
            </a:r>
            <a:r>
              <a:rPr kumimoji="0" lang="en-US" altLang="en-US" kern="1200" cap="none" spc="0" normalizeH="0" baseline="0" noProof="0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charset="0"/>
                <a:cs typeface="+mn-cs"/>
              </a:rPr>
              <a:t>, </a:t>
            </a:r>
            <a:r>
              <a:rPr kumimoji="0" lang="en-US" altLang="en-US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Times New Roman" panose="02020603050405020304" charset="0"/>
                <a:cs typeface="+mn-cs"/>
              </a:rPr>
              <a:t>design</a:t>
            </a:r>
            <a:r>
              <a:rPr kumimoji="0" lang="en-US" altLang="en-US" kern="1200" cap="none" spc="0" normalizeH="0" baseline="0" noProof="0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charset="0"/>
                <a:cs typeface="+mn-cs"/>
              </a:rPr>
              <a:t>, and </a:t>
            </a:r>
            <a:r>
              <a:rPr kumimoji="0" lang="en-US" altLang="en-US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Times New Roman" panose="02020603050405020304" charset="0"/>
                <a:cs typeface="+mn-cs"/>
              </a:rPr>
              <a:t>implement </a:t>
            </a:r>
            <a:r>
              <a:rPr kumimoji="0" lang="en-US" altLang="en-US" kern="1200" cap="none" spc="0" normalizeH="0" baseline="0" noProof="0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charset="0"/>
                <a:cs typeface="+mn-cs"/>
              </a:rPr>
              <a:t>information systems that effectively support business needs. It focuses on </a:t>
            </a:r>
            <a:r>
              <a:rPr kumimoji="0" lang="en-US" altLang="en-US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Times New Roman" panose="02020603050405020304" charset="0"/>
                <a:cs typeface="+mn-cs"/>
              </a:rPr>
              <a:t>analyzing existing systems</a:t>
            </a:r>
            <a:r>
              <a:rPr kumimoji="0" lang="en-US" altLang="en-US" kern="1200" cap="none" spc="0" normalizeH="0" baseline="0" noProof="0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charset="0"/>
                <a:cs typeface="+mn-cs"/>
              </a:rPr>
              <a:t>, </a:t>
            </a:r>
            <a:r>
              <a:rPr kumimoji="0" lang="en-US" altLang="en-US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Times New Roman" panose="02020603050405020304" charset="0"/>
                <a:cs typeface="+mn-cs"/>
              </a:rPr>
              <a:t>identifying problems</a:t>
            </a:r>
            <a:r>
              <a:rPr kumimoji="0" lang="en-US" altLang="en-US" kern="1200" cap="none" spc="0" normalizeH="0" baseline="0" noProof="0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charset="0"/>
                <a:cs typeface="+mn-cs"/>
              </a:rPr>
              <a:t> or opportunities, and </a:t>
            </a:r>
            <a:r>
              <a:rPr kumimoji="0" lang="en-US" altLang="en-US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Times New Roman" panose="02020603050405020304" charset="0"/>
                <a:cs typeface="+mn-cs"/>
              </a:rPr>
              <a:t>designing new</a:t>
            </a:r>
            <a:r>
              <a:rPr kumimoji="0" lang="en-US" altLang="en-US" kern="1200" cap="none" spc="0" normalizeH="0" baseline="0" noProof="0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charset="0"/>
                <a:cs typeface="+mn-cs"/>
              </a:rPr>
              <a:t> or </a:t>
            </a:r>
            <a:r>
              <a:rPr kumimoji="0" lang="en-US" altLang="en-US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Times New Roman" panose="02020603050405020304" charset="0"/>
                <a:cs typeface="+mn-cs"/>
              </a:rPr>
              <a:t>improved systems</a:t>
            </a:r>
            <a:r>
              <a:rPr kumimoji="0" lang="en-US" altLang="en-US" kern="1200" cap="none" spc="0" normalizeH="0" baseline="0" noProof="0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charset="0"/>
                <a:cs typeface="+mn-cs"/>
              </a:rPr>
              <a:t>.</a:t>
            </a:r>
            <a:endParaRPr kumimoji="0" lang="en-US" altLang="en-US" kern="1200" cap="none" spc="0" normalizeH="0" baseline="0" noProof="0" dirty="0">
              <a:solidFill>
                <a:srgbClr val="000000"/>
              </a:solidFill>
              <a:latin typeface="Times New Roman" panose="02020603050405020304" charset="0"/>
              <a:ea typeface="Times New Roman" panose="02020603050405020304" charset="0"/>
              <a:cs typeface="+mn-cs"/>
            </a:endParaRPr>
          </a:p>
          <a:p>
            <a:pPr marL="285750" marR="0" indent="-285750" defTabSz="914400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kern="1200" cap="none" spc="0" normalizeH="0" baseline="0" noProof="0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charset="0"/>
                <a:cs typeface="+mn-cs"/>
              </a:rPr>
              <a:t>The main goal of </a:t>
            </a:r>
            <a:r>
              <a:rPr kumimoji="0" lang="en-US" b="1" kern="1200" cap="none" spc="0" normalizeH="0" baseline="0" noProof="0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charset="0"/>
                <a:cs typeface="+mn-cs"/>
              </a:rPr>
              <a:t>SAD</a:t>
            </a:r>
            <a:r>
              <a:rPr kumimoji="0" lang="en-US" kern="1200" cap="none" spc="0" normalizeH="0" baseline="0" noProof="0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charset="0"/>
                <a:cs typeface="+mn-cs"/>
              </a:rPr>
              <a:t> is to </a:t>
            </a:r>
            <a:r>
              <a:rPr kumimoji="0" lang="en-US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Times New Roman" panose="02020603050405020304" charset="0"/>
                <a:cs typeface="+mn-cs"/>
              </a:rPr>
              <a:t>improve organizational systems</a:t>
            </a:r>
            <a:r>
              <a:rPr kumimoji="0" lang="en-US" kern="1200" cap="none" spc="0" normalizeH="0" baseline="0" noProof="0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charset="0"/>
                <a:cs typeface="+mn-cs"/>
              </a:rPr>
              <a:t>, typically through applying software that can help employees accomplish key business tasks more </a:t>
            </a: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Times New Roman" panose="02020603050405020304" charset="0"/>
                <a:ea typeface="Times New Roman" panose="02020603050405020304" charset="0"/>
                <a:cs typeface="+mn-cs"/>
              </a:rPr>
              <a:t>easily</a:t>
            </a:r>
            <a:r>
              <a:rPr kumimoji="0" lang="en-US" kern="1200" cap="none" spc="0" normalizeH="0" baseline="0" noProof="0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charset="0"/>
                <a:cs typeface="+mn-cs"/>
              </a:rPr>
              <a:t> and </a:t>
            </a: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Times New Roman" panose="02020603050405020304" charset="0"/>
                <a:ea typeface="Times New Roman" panose="02020603050405020304" charset="0"/>
                <a:cs typeface="+mn-cs"/>
              </a:rPr>
              <a:t>efficiently</a:t>
            </a:r>
            <a:r>
              <a:rPr kumimoji="0" lang="en-US" sz="1800" kern="1200" cap="none" spc="0" normalizeH="0" baseline="0" noProof="0" dirty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 charset="0"/>
                <a:cs typeface="+mn-cs"/>
              </a:rPr>
              <a:t>. </a:t>
            </a:r>
            <a:endParaRPr kumimoji="0" lang="en-US" sz="1800" kern="1200" cap="none" spc="0" normalizeH="0" baseline="0" noProof="0" dirty="0">
              <a:solidFill>
                <a:srgbClr val="000000"/>
              </a:solidFill>
              <a:latin typeface="Times New Roman" panose="02020603050405020304" charset="0"/>
              <a:ea typeface="Times New Roman" panose="02020603050405020304" charset="0"/>
              <a:cs typeface="+mn-cs"/>
            </a:endParaRPr>
          </a:p>
          <a:p>
            <a:pPr marL="285750" marR="0" indent="-285750" algn="just" defTabSz="914400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endParaRPr kumimoji="0" lang="en-US" sz="2600" kern="1200" cap="none" spc="0" normalizeH="0" baseline="0" noProof="0" dirty="0">
              <a:latin typeface="+mn-lt"/>
              <a:ea typeface="Times New Roman" panose="02020603050405020304" charset="0"/>
              <a:cs typeface="+mn-cs"/>
            </a:endParaRPr>
          </a:p>
        </p:txBody>
      </p:sp>
      <p:sp>
        <p:nvSpPr>
          <p:cNvPr id="12294" name="Slide Number Placeholder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5pPr>
          </a:lstStyle>
          <a:p>
            <a:pPr lvl="0" algn="r">
              <a:spcBef>
                <a:spcPct val="50000"/>
              </a:spcBef>
              <a:buNone/>
            </a:pPr>
            <a:fld id="{9A0DB2DC-4C9A-4742-B13C-FB6460FD3503}" type="slidenum">
              <a:rPr lang="en-US" altLang="en-US" sz="1400" dirty="0">
                <a:latin typeface="Arial Narrow" panose="020B0606020202030204" pitchFamily="34" charset="0"/>
              </a:rPr>
            </a:fld>
            <a:endParaRPr lang="en-US" altLang="en-US" sz="14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7626350" cy="560705"/>
          </a:xfrm>
        </p:spPr>
        <p:txBody>
          <a:bodyPr/>
          <a:p>
            <a:r>
              <a:rPr lang="en-US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Key components of SAD</a:t>
            </a:r>
            <a:endParaRPr lang="en-US" altLang="en-US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865" y="1143000"/>
            <a:ext cx="8369935" cy="5132705"/>
          </a:xfrm>
        </p:spPr>
        <p:txBody>
          <a:bodyPr/>
          <a:p>
            <a:pPr marL="0" indent="0">
              <a:buNone/>
            </a:pPr>
            <a:r>
              <a:rPr lang="en-US" altLang="en-US" sz="2400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System Analysis</a:t>
            </a:r>
            <a:r>
              <a:rPr lang="en-US" altLang="en-US" sz="2000"/>
              <a:t> – </a:t>
            </a:r>
            <a:r>
              <a:rPr lang="en-US" altLang="en-US" sz="2800"/>
              <a:t>Understanding and breaking down the existing system:</a:t>
            </a:r>
            <a:endParaRPr lang="en-US" altLang="en-US" sz="2800"/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800"/>
              <a:t>Collecting requirements</a:t>
            </a:r>
            <a:endParaRPr lang="en-US" altLang="en-US" sz="2800"/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800"/>
              <a:t>Studying workflows and processes</a:t>
            </a:r>
            <a:endParaRPr lang="en-US" altLang="en-US" sz="2800"/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800"/>
              <a:t>Identifying problems or inefficiencies</a:t>
            </a:r>
            <a:endParaRPr lang="en-US" altLang="en-US" sz="2800"/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800"/>
              <a:t>Specifying what the new system should achieve</a:t>
            </a:r>
            <a:endParaRPr lang="en-US" altLang="en-US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70915"/>
          </a:xfrm>
        </p:spPr>
        <p:txBody>
          <a:bodyPr/>
          <a:p>
            <a:pPr algn="l"/>
            <a:r>
              <a:rPr lang="en-US"/>
              <a:t>Cont...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655" y="1190625"/>
            <a:ext cx="8344535" cy="4935855"/>
          </a:xfrm>
        </p:spPr>
        <p:txBody>
          <a:bodyPr/>
          <a:p>
            <a:pPr marL="0" indent="0">
              <a:buNone/>
            </a:pPr>
            <a:r>
              <a:rPr lang="en-US" altLang="en-US" sz="2800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System Design</a:t>
            </a:r>
            <a:r>
              <a:rPr lang="en-US" altLang="en-US" sz="28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sz="2400"/>
              <a:t>– Planning how the new system will work:</a:t>
            </a:r>
            <a:endParaRPr lang="en-US" altLang="en-US" sz="2400"/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/>
              <a:t>Designing inputs, processes, and outputs</a:t>
            </a:r>
            <a:endParaRPr lang="en-US" altLang="en-US" sz="2400"/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/>
              <a:t>Creating data flow diagrams, ER diagrams, UML models, etc.</a:t>
            </a:r>
            <a:endParaRPr lang="en-US" altLang="en-US" sz="2400"/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/>
              <a:t>Planning databases, interfaces, and architecture</a:t>
            </a:r>
            <a:endParaRPr lang="en-US" altLang="en-US" sz="2400"/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/>
              <a:t>Specifying hardware/software requirements</a:t>
            </a:r>
            <a:endParaRPr lang="en-US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altLang="en-US">
                <a:solidFill>
                  <a:srgbClr val="C00000"/>
                </a:solidFill>
                <a:sym typeface="+mn-ea"/>
              </a:rPr>
              <a:t>Example </a:t>
            </a:r>
            <a:endParaRPr lang="en-US" altLang="en-US">
              <a:solidFill>
                <a:srgbClr val="C0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p>
            <a:pPr marL="0" indent="0">
              <a:buNone/>
            </a:pPr>
            <a:r>
              <a:rPr lang="en-US" altLang="en-US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Analysis:</a:t>
            </a:r>
            <a:r>
              <a:rPr lang="en-US" altLang="en-US"/>
              <a:t> In a </a:t>
            </a:r>
            <a:r>
              <a:rPr lang="en-US" altLang="en-US" u="sng">
                <a:latin typeface="Bahnschrift SemiBold Condensed" panose="020B0502040204020203" charset="0"/>
                <a:cs typeface="Bahnschrift SemiBold Condensed" panose="020B0502040204020203" charset="0"/>
              </a:rPr>
              <a:t>university registration system</a:t>
            </a:r>
            <a:r>
              <a:rPr lang="en-US" altLang="en-US"/>
              <a:t>, </a:t>
            </a:r>
            <a:r>
              <a:rPr lang="en-US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identify issues</a:t>
            </a:r>
            <a:r>
              <a:rPr lang="en-US" altLang="en-US"/>
              <a:t> like </a:t>
            </a:r>
            <a:r>
              <a:rPr lang="en-US" altLang="en-US">
                <a:solidFill>
                  <a:srgbClr val="FF0000"/>
                </a:solidFill>
              </a:rPr>
              <a:t>delays</a:t>
            </a:r>
            <a:r>
              <a:rPr lang="en-US" altLang="en-US"/>
              <a:t>, </a:t>
            </a:r>
            <a:r>
              <a:rPr lang="en-US" altLang="en-US">
                <a:solidFill>
                  <a:srgbClr val="FF0000"/>
                </a:solidFill>
              </a:rPr>
              <a:t>errors in student records</a:t>
            </a:r>
            <a:r>
              <a:rPr lang="en-US" altLang="en-US"/>
              <a:t>, or lack of online access.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Design:</a:t>
            </a:r>
            <a:r>
              <a:rPr lang="en-US" altLang="en-US"/>
              <a:t> Propose a </a:t>
            </a:r>
            <a:r>
              <a:rPr lang="en-US" altLang="en-US" u="sng">
                <a:latin typeface="Bahnschrift SemiBold Condensed" panose="020B0502040204020203" charset="0"/>
                <a:cs typeface="Bahnschrift SemiBold Condensed" panose="020B0502040204020203" charset="0"/>
              </a:rPr>
              <a:t>web-based registration platform.</a:t>
            </a:r>
            <a:r>
              <a:rPr lang="en-US" altLang="en-US"/>
              <a:t> automated verification, and database integration.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228600" y="228283"/>
            <a:ext cx="8585200" cy="585787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charset="0"/>
              </a:rPr>
              <a:t>System Development Life Cycle(</a:t>
            </a:r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anose="020F0502020204030204" pitchFamily="34" charset="0"/>
              </a:rPr>
              <a:t>SDLC</a:t>
            </a:r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charset="0"/>
              </a:rPr>
              <a:t>)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9885" y="1007745"/>
            <a:ext cx="8536940" cy="571373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defRPr/>
            </a:pPr>
            <a:r>
              <a:rPr lang="en-US" sz="2800" b="1" dirty="0">
                <a:sym typeface="+mn-ea"/>
              </a:rPr>
              <a:t>Definition</a:t>
            </a:r>
            <a:r>
              <a:rPr lang="en-US" sz="2800" dirty="0">
                <a:sym typeface="+mn-ea"/>
              </a:rPr>
              <a:t> </a:t>
            </a:r>
            <a:endParaRPr lang="en-US" sz="2800" dirty="0"/>
          </a:p>
          <a:p>
            <a:pPr marL="484505" indent="-457200">
              <a:buFont typeface="Wingdings" panose="05000000000000000000" pitchFamily="2" charset="2"/>
              <a:buChar char="Ø"/>
            </a:pPr>
            <a:r>
              <a:rPr lang="en-US" sz="2800" dirty="0">
                <a:sym typeface="+mn-ea"/>
              </a:rPr>
              <a:t>is a </a:t>
            </a:r>
            <a:r>
              <a:rPr 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framework </a:t>
            </a:r>
            <a:r>
              <a:rPr lang="en-US" sz="2800" dirty="0">
                <a:sym typeface="+mn-ea"/>
              </a:rPr>
              <a:t>that outlines the </a:t>
            </a:r>
            <a:r>
              <a:rPr lang="en-US" sz="2800" dirty="0">
                <a:solidFill>
                  <a:srgbClr val="C00000"/>
                </a:solidFill>
                <a:sym typeface="+mn-ea"/>
              </a:rPr>
              <a:t>phases </a:t>
            </a:r>
            <a:r>
              <a:rPr lang="en-US" sz="2800" dirty="0">
                <a:sym typeface="+mn-ea"/>
              </a:rPr>
              <a:t>and </a:t>
            </a:r>
            <a:r>
              <a:rPr lang="en-US" sz="2800" dirty="0">
                <a:solidFill>
                  <a:srgbClr val="C00000"/>
                </a:solidFill>
                <a:sym typeface="+mn-ea"/>
              </a:rPr>
              <a:t>activities </a:t>
            </a:r>
            <a:r>
              <a:rPr lang="en-US" sz="2800" dirty="0">
                <a:sym typeface="+mn-ea"/>
              </a:rPr>
              <a:t>involved in </a:t>
            </a:r>
            <a:r>
              <a:rPr lang="en-US" sz="2800" b="1" dirty="0">
                <a:sym typeface="+mn-ea"/>
              </a:rPr>
              <a:t>developing </a:t>
            </a:r>
            <a:r>
              <a:rPr lang="en-US" sz="2800" dirty="0">
                <a:sym typeface="+mn-ea"/>
              </a:rPr>
              <a:t>and </a:t>
            </a:r>
            <a:r>
              <a:rPr lang="en-US" sz="2800" b="1" dirty="0">
                <a:sym typeface="+mn-ea"/>
              </a:rPr>
              <a:t>maintaining a software system</a:t>
            </a:r>
            <a:r>
              <a:rPr lang="en-US" sz="2800" dirty="0">
                <a:sym typeface="+mn-ea"/>
              </a:rPr>
              <a:t>. </a:t>
            </a:r>
            <a:endParaRPr lang="en-US" sz="2800" dirty="0"/>
          </a:p>
          <a:p>
            <a:pPr marL="484505" indent="-457200">
              <a:buFont typeface="Wingdings" panose="05000000000000000000" pitchFamily="2" charset="2"/>
              <a:buChar char="Ø"/>
            </a:pPr>
            <a:r>
              <a:rPr lang="en-US" sz="2800" dirty="0">
                <a:sym typeface="+mn-ea"/>
              </a:rPr>
              <a:t>It provides a structured approach to managing the entire process, from the initial concept and requirements gathering to the system's deployment and maintenance. </a:t>
            </a:r>
            <a:endParaRPr lang="en-US" sz="2800" dirty="0"/>
          </a:p>
          <a:p>
            <a:pPr marL="484505" indent="-457200">
              <a:buFont typeface="Wingdings" panose="05000000000000000000" pitchFamily="2" charset="2"/>
              <a:buChar char="Ø"/>
            </a:pPr>
            <a:r>
              <a:rPr lang="en-US" sz="2800" dirty="0">
                <a:sym typeface="+mn-ea"/>
              </a:rPr>
              <a:t>The SDLC helps ensure that the software development process is systematic, efficient, and produces high-quality results.</a:t>
            </a:r>
            <a:endParaRPr lang="en-US" sz="2800" dirty="0"/>
          </a:p>
          <a:p>
            <a:pPr marL="484505" indent="-457200">
              <a:buFont typeface="Wingdings" panose="05000000000000000000" pitchFamily="2" charset="2"/>
              <a:buChar char="Ø"/>
            </a:pPr>
            <a:endParaRPr kumimoji="0" lang="en-US" sz="2800" kern="1200" cap="none" spc="0" normalizeH="0" baseline="0" noProof="0" dirty="0">
              <a:latin typeface="+mn-lt"/>
              <a:ea typeface="Times New Roman" panose="02020603050405020304" charset="0"/>
              <a:cs typeface="+mn-cs"/>
            </a:endParaRPr>
          </a:p>
        </p:txBody>
      </p:sp>
      <p:sp>
        <p:nvSpPr>
          <p:cNvPr id="13318" name="Slide Number Placeholder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5pPr>
          </a:lstStyle>
          <a:p>
            <a:pPr lvl="0" algn="r">
              <a:spcBef>
                <a:spcPct val="50000"/>
              </a:spcBef>
              <a:buNone/>
            </a:pPr>
            <a:fld id="{9A0DB2DC-4C9A-4742-B13C-FB6460FD3503}" type="slidenum">
              <a:rPr lang="en-US" altLang="en-US" sz="1400" dirty="0">
                <a:latin typeface="Arial Narrow" panose="020B0606020202030204" pitchFamily="34" charset="0"/>
              </a:rPr>
            </a:fld>
            <a:endParaRPr lang="en-US" altLang="en-US" sz="14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425" y="-19685"/>
            <a:ext cx="6887210" cy="65538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88695"/>
          </a:xfrm>
        </p:spPr>
        <p:txBody>
          <a:bodyPr/>
          <a:p>
            <a:pPr algn="l"/>
            <a:r>
              <a:rPr lang="en-US" altLang="en-US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1. Planning Phase </a:t>
            </a:r>
            <a:endParaRPr lang="en-US" altLang="en-US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63650"/>
            <a:ext cx="8508365" cy="4895850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 sz="2800"/>
              <a:t>The initial phase where the project idea is studied.</a:t>
            </a:r>
            <a:endParaRPr lang="en-US" altLang="en-US" sz="2800"/>
          </a:p>
          <a:p>
            <a:pPr>
              <a:buFont typeface="Wingdings" panose="05000000000000000000" charset="0"/>
              <a:buChar char="Ø"/>
            </a:pPr>
            <a:r>
              <a:rPr lang="en-US" altLang="en-US" sz="2800"/>
              <a:t>Main goal is to determine the feasibility, resources needed, and project scope.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sz="2800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Activities</a:t>
            </a:r>
            <a:r>
              <a:rPr lang="en-US" altLang="en-US" sz="2800"/>
              <a:t>:</a:t>
            </a:r>
            <a:endParaRPr lang="en-US" altLang="en-US" sz="2800"/>
          </a:p>
          <a:p>
            <a:pPr>
              <a:buFont typeface="Wingdings" panose="05000000000000000000" charset="0"/>
              <a:buChar char="ü"/>
            </a:pPr>
            <a:r>
              <a:rPr lang="en-US" altLang="en-US" sz="2800"/>
              <a:t>Identify project objectives.</a:t>
            </a:r>
            <a:endParaRPr lang="en-US" altLang="en-US" sz="2800"/>
          </a:p>
          <a:p>
            <a:pPr>
              <a:buFont typeface="Wingdings" panose="05000000000000000000" charset="0"/>
              <a:buChar char="ü"/>
            </a:pPr>
            <a:r>
              <a:rPr lang="en-US" altLang="en-US" sz="2800"/>
              <a:t>Conduct </a:t>
            </a:r>
            <a:r>
              <a:rPr lang="en-US" altLang="en-US" sz="2800" u="sng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feasibility studies</a:t>
            </a:r>
            <a:r>
              <a:rPr lang="en-US" altLang="en-US" sz="2800"/>
              <a:t> (</a:t>
            </a:r>
            <a:r>
              <a:rPr lang="en-US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technical</a:t>
            </a:r>
            <a:r>
              <a:rPr lang="en-US" altLang="en-US" sz="2800"/>
              <a:t>, </a:t>
            </a:r>
            <a:r>
              <a:rPr lang="en-US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economic</a:t>
            </a:r>
            <a:r>
              <a:rPr lang="en-US" altLang="en-US" sz="2800"/>
              <a:t>, </a:t>
            </a:r>
            <a:r>
              <a:rPr lang="en-US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operational</a:t>
            </a:r>
            <a:r>
              <a:rPr lang="en-US" altLang="en-US" sz="2800"/>
              <a:t>).</a:t>
            </a:r>
            <a:endParaRPr lang="en-US" altLang="en-US" sz="2800"/>
          </a:p>
          <a:p>
            <a:pPr>
              <a:buFont typeface="Wingdings" panose="05000000000000000000" charset="0"/>
              <a:buChar char="ü"/>
            </a:pPr>
            <a:r>
              <a:rPr lang="en-US" altLang="en-US" sz="2800"/>
              <a:t>Estimate costs, timelines, and resources.</a:t>
            </a:r>
            <a:endParaRPr lang="en-US" altLang="en-US" sz="2800"/>
          </a:p>
          <a:p>
            <a:pPr>
              <a:buFont typeface="Wingdings" panose="05000000000000000000" charset="0"/>
              <a:buChar char="ü"/>
            </a:pPr>
            <a:r>
              <a:rPr lang="en-US" altLang="en-US" sz="2800"/>
              <a:t>Prepare a project plan.</a:t>
            </a:r>
            <a:endParaRPr lang="en-US" altLang="en-US"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7" name="Rectangle 3"/>
          <p:cNvSpPr>
            <a:spLocks noGrp="1"/>
          </p:cNvSpPr>
          <p:nvPr>
            <p:ph idx="1"/>
          </p:nvPr>
        </p:nvSpPr>
        <p:spPr>
          <a:xfrm>
            <a:off x="304800" y="533400"/>
            <a:ext cx="8203565" cy="58547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charset="0"/>
              </a:rPr>
              <a:t>Assessing Project Feasibility</a:t>
            </a:r>
            <a:endParaRPr lang="en-US" alt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9575" y="1676400"/>
            <a:ext cx="8429625" cy="46158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defRPr/>
            </a:pPr>
            <a:r>
              <a:rPr kumimoji="0" 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charset="0"/>
              </a:rPr>
              <a:t>Most feasibility factors are the following six categories</a:t>
            </a:r>
            <a:r>
              <a:rPr kumimoji="0" lang="en-US" kern="1200" cap="none" spc="0" normalizeH="0" baseline="0" noProof="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charset="0"/>
              </a:rPr>
              <a:t>:</a:t>
            </a:r>
            <a:endParaRPr kumimoji="0" lang="en-US" kern="1200" cap="none" spc="0" normalizeH="0" baseline="0" noProof="0" dirty="0">
              <a:solidFill>
                <a:srgbClr val="000000"/>
              </a:solidFill>
              <a:latin typeface="+mn-lt"/>
              <a:ea typeface="Calibri" panose="020F0502020204030204" pitchFamily="34" charset="0"/>
              <a:cs typeface="Times New Roman" panose="02020603050405020304" charset="0"/>
            </a:endParaRPr>
          </a:p>
          <a:p>
            <a:pPr marL="285750" marR="0" indent="-285750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kern="1200" cap="none" spc="0" normalizeH="0" baseline="0" noProof="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charset="0"/>
              </a:rPr>
              <a:t>Economic</a:t>
            </a:r>
            <a:endParaRPr kumimoji="0" lang="en-US" kern="1200" cap="none" spc="0" normalizeH="0" baseline="0" noProof="0" dirty="0">
              <a:solidFill>
                <a:srgbClr val="000000"/>
              </a:solidFill>
              <a:latin typeface="+mn-lt"/>
              <a:ea typeface="Calibri" panose="020F0502020204030204" pitchFamily="34" charset="0"/>
              <a:cs typeface="Times New Roman" panose="02020603050405020304" charset="0"/>
            </a:endParaRPr>
          </a:p>
          <a:p>
            <a:pPr marL="285750" marR="0" indent="-285750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kern="1200" cap="none" spc="0" normalizeH="0" baseline="0" noProof="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charset="0"/>
              </a:rPr>
              <a:t>Operational</a:t>
            </a:r>
            <a:endParaRPr kumimoji="0" lang="en-US" kern="1200" cap="none" spc="0" normalizeH="0" baseline="0" noProof="0" dirty="0">
              <a:solidFill>
                <a:srgbClr val="000000"/>
              </a:solidFill>
              <a:latin typeface="+mn-lt"/>
              <a:ea typeface="Calibri" panose="020F0502020204030204" pitchFamily="34" charset="0"/>
              <a:cs typeface="Times New Roman" panose="02020603050405020304" charset="0"/>
            </a:endParaRPr>
          </a:p>
          <a:p>
            <a:pPr marL="285750" marR="0" indent="-285750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kern="1200" cap="none" spc="0" normalizeH="0" baseline="0" noProof="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charset="0"/>
              </a:rPr>
              <a:t>Technical</a:t>
            </a:r>
            <a:endParaRPr kumimoji="0" lang="en-US" kern="1200" cap="none" spc="0" normalizeH="0" baseline="0" noProof="0" dirty="0">
              <a:solidFill>
                <a:srgbClr val="000000"/>
              </a:solidFill>
              <a:latin typeface="+mn-lt"/>
              <a:ea typeface="Calibri" panose="020F0502020204030204" pitchFamily="34" charset="0"/>
              <a:cs typeface="Times New Roman" panose="02020603050405020304" charset="0"/>
            </a:endParaRPr>
          </a:p>
          <a:p>
            <a:pPr marL="285750" marR="0" indent="-285750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kern="1200" cap="none" spc="0" normalizeH="0" baseline="0" noProof="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charset="0"/>
              </a:rPr>
              <a:t>Schedule</a:t>
            </a:r>
            <a:endParaRPr kumimoji="0" lang="en-US" kern="1200" cap="none" spc="0" normalizeH="0" baseline="0" noProof="0" dirty="0">
              <a:solidFill>
                <a:srgbClr val="000000"/>
              </a:solidFill>
              <a:latin typeface="+mn-lt"/>
              <a:ea typeface="Calibri" panose="020F0502020204030204" pitchFamily="34" charset="0"/>
              <a:cs typeface="Times New Roman" panose="02020603050405020304" charset="0"/>
            </a:endParaRPr>
          </a:p>
          <a:p>
            <a:pPr marL="285750" marR="0" indent="-285750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kern="1200" cap="none" spc="0" normalizeH="0" baseline="0" noProof="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charset="0"/>
              </a:rPr>
              <a:t>Legal and contractual</a:t>
            </a:r>
            <a:endParaRPr kumimoji="0" lang="en-US" kern="1200" cap="none" spc="0" normalizeH="0" baseline="0" noProof="0" dirty="0">
              <a:solidFill>
                <a:srgbClr val="000000"/>
              </a:solidFill>
              <a:latin typeface="+mn-lt"/>
              <a:ea typeface="Calibri" panose="020F0502020204030204" pitchFamily="34" charset="0"/>
              <a:cs typeface="Times New Roman" panose="02020603050405020304" charset="0"/>
            </a:endParaRPr>
          </a:p>
          <a:p>
            <a:pPr marL="285750" marR="0" indent="-285750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kern="1200" cap="none" spc="0" normalizeH="0" baseline="0" noProof="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charset="0"/>
              </a:rPr>
              <a:t>Political</a:t>
            </a:r>
            <a:br>
              <a:rPr kumimoji="0" lang="en-US" sz="1800" kern="1200" cap="none" spc="0" normalizeH="0" baseline="0" noProof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charset="0"/>
              </a:rPr>
            </a:br>
            <a:endParaRPr kumimoji="0" lang="en-US" sz="2800" kern="1200" cap="none" spc="0" normalizeH="0" baseline="0" noProof="0" dirty="0">
              <a:latin typeface="+mn-lt"/>
              <a:ea typeface="Times New Roman" panose="02020603050405020304" charset="0"/>
              <a:cs typeface="+mn-cs"/>
            </a:endParaRPr>
          </a:p>
        </p:txBody>
      </p:sp>
      <p:sp>
        <p:nvSpPr>
          <p:cNvPr id="36870" name="Slide Number Placeholder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5pPr>
          </a:lstStyle>
          <a:p>
            <a:pPr lvl="0" algn="r">
              <a:spcBef>
                <a:spcPct val="50000"/>
              </a:spcBef>
              <a:buNone/>
            </a:pPr>
            <a:fld id="{9A0DB2DC-4C9A-4742-B13C-FB6460FD3503}" type="slidenum">
              <a:rPr lang="en-US" altLang="en-US" sz="1400" dirty="0">
                <a:latin typeface="Arial Narrow" panose="020B0606020202030204" pitchFamily="34" charset="0"/>
              </a:rPr>
            </a:fld>
            <a:endParaRPr lang="en-US" altLang="en-US" sz="14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41680"/>
          </a:xfrm>
        </p:spPr>
        <p:txBody>
          <a:bodyPr/>
          <a:p>
            <a:pPr algn="l"/>
            <a:r>
              <a:rPr lang="en-US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Example</a:t>
            </a:r>
            <a:endParaRPr lang="en-US" altLang="en-US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460" y="1114425"/>
            <a:ext cx="8572500" cy="501205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070C0"/>
                </a:solidFill>
                <a:latin typeface="Bahnschrift SemiBold Condensed" panose="020B0502040204020203" charset="0"/>
                <a:cs typeface="Bahnschrift SemiBold Condensed" panose="020B0502040204020203" charset="0"/>
              </a:rPr>
              <a:t>A university decides to develop a web-based student registration system</a:t>
            </a:r>
            <a:r>
              <a:rPr lang="en-US" altLang="en-US" sz="3600"/>
              <a:t>. </a:t>
            </a:r>
            <a:endParaRPr lang="en-US" altLang="en-US" sz="360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planning, they check:</a:t>
            </a:r>
            <a:endParaRPr lang="en-US" altLang="en-US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3600"/>
              <a:t>Is it technically possible to build it?</a:t>
            </a:r>
            <a:endParaRPr lang="en-US" altLang="en-US" sz="3600"/>
          </a:p>
          <a:p>
            <a:pPr>
              <a:buFont typeface="Wingdings" panose="05000000000000000000" charset="0"/>
              <a:buChar char="Ø"/>
            </a:pPr>
            <a:r>
              <a:rPr lang="en-US" altLang="en-US" sz="3600"/>
              <a:t>What budget is required?</a:t>
            </a:r>
            <a:endParaRPr lang="en-US" altLang="en-US" sz="3600"/>
          </a:p>
          <a:p>
            <a:pPr>
              <a:buFont typeface="Wingdings" panose="05000000000000000000" charset="0"/>
              <a:buChar char="Ø"/>
            </a:pPr>
            <a:r>
              <a:rPr lang="en-US" altLang="en-US" sz="3600"/>
              <a:t>How long will it take?</a:t>
            </a:r>
            <a:endParaRPr lang="en-US" altLang="en-US" sz="3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890" y="274955"/>
            <a:ext cx="8550910" cy="970915"/>
          </a:xfrm>
        </p:spPr>
        <p:txBody>
          <a:bodyPr/>
          <a:p>
            <a:pPr algn="l"/>
            <a:r>
              <a:rPr lang="en-US" altLang="en-US" sz="36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2. Requirements Gathering</a:t>
            </a:r>
            <a:r>
              <a:rPr lang="en-US" altLang="en-US" sz="3600">
                <a:sym typeface="+mn-ea"/>
              </a:rPr>
              <a:t> </a:t>
            </a:r>
            <a:br>
              <a:rPr lang="en-US" altLang="en-US" sz="3600">
                <a:sym typeface="+mn-ea"/>
              </a:rPr>
            </a:br>
            <a:r>
              <a:rPr lang="en-US" altLang="en-US" sz="3200">
                <a:sym typeface="+mn-ea"/>
              </a:rPr>
              <a:t>(Analysis Phase)</a:t>
            </a:r>
            <a:endParaRPr lang="en-US" altLang="en-US" sz="32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460" y="1421765"/>
            <a:ext cx="8466455" cy="513270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Collecting </a:t>
            </a:r>
            <a:r>
              <a:rPr lang="en-US" altLang="en-US" sz="2800"/>
              <a:t>and analyzing the </a:t>
            </a:r>
            <a:r>
              <a:rPr lang="en-US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requirements of the new system</a:t>
            </a:r>
            <a:r>
              <a:rPr lang="en-US" altLang="en-US" sz="2800"/>
              <a:t> from users and stakeholders.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sz="2800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Activities</a:t>
            </a:r>
            <a:r>
              <a:rPr lang="en-US" altLang="en-US" sz="28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altLang="en-US" sz="280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8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Interview </a:t>
            </a:r>
            <a:r>
              <a:rPr lang="en-US" altLang="en-US" sz="2800"/>
              <a:t>users, distribute </a:t>
            </a:r>
            <a:r>
              <a:rPr lang="en-US" altLang="en-US" sz="28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questionnaires</a:t>
            </a:r>
            <a:r>
              <a:rPr lang="en-US" altLang="en-US" sz="2800"/>
              <a:t>, and </a:t>
            </a:r>
            <a:r>
              <a:rPr lang="en-US" altLang="en-US" sz="28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observe </a:t>
            </a:r>
            <a:r>
              <a:rPr lang="en-US" altLang="en-US" sz="2800"/>
              <a:t>processes.</a:t>
            </a:r>
            <a:endParaRPr lang="en-US" altLang="en-US" sz="2800"/>
          </a:p>
          <a:p>
            <a:pPr>
              <a:buFont typeface="Wingdings" panose="05000000000000000000" charset="0"/>
              <a:buChar char="ü"/>
            </a:pPr>
            <a:r>
              <a:rPr lang="en-US" altLang="en-US" sz="2800"/>
              <a:t>Document </a:t>
            </a:r>
            <a:r>
              <a:rPr lang="en-US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functional requirements</a:t>
            </a:r>
            <a:r>
              <a:rPr lang="en-US" altLang="en-US" sz="2800"/>
              <a:t> (what the system should do).</a:t>
            </a:r>
            <a:endParaRPr lang="en-US" altLang="en-US" sz="2800"/>
          </a:p>
          <a:p>
            <a:pPr>
              <a:buFont typeface="Wingdings" panose="05000000000000000000" charset="0"/>
              <a:buChar char="ü"/>
            </a:pPr>
            <a:r>
              <a:rPr lang="en-US" altLang="en-US" sz="2800"/>
              <a:t>Document </a:t>
            </a:r>
            <a:r>
              <a:rPr lang="en-US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non-functional requirements </a:t>
            </a:r>
            <a:r>
              <a:rPr lang="en-US" altLang="en-US" sz="2800"/>
              <a:t>(performance, security, reliability).</a:t>
            </a:r>
            <a:endParaRPr lang="en-US" altLang="en-US"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altLang="en-US">
                <a:solidFill>
                  <a:srgbClr val="C00000"/>
                </a:solidFill>
                <a:sym typeface="+mn-ea"/>
              </a:rPr>
              <a:t>Example</a:t>
            </a:r>
            <a:endParaRPr lang="en-US" altLang="en-US">
              <a:solidFill>
                <a:srgbClr val="C0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975" y="1600200"/>
            <a:ext cx="8660765" cy="4526280"/>
          </a:xfrm>
        </p:spPr>
        <p:txBody>
          <a:bodyPr/>
          <a:p>
            <a:pPr marL="0" indent="0">
              <a:buNone/>
            </a:pPr>
            <a:r>
              <a:rPr lang="en-US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the registration system:</a:t>
            </a:r>
            <a:endParaRPr lang="en-US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/>
              <a:t>Students need to register online for courses.</a:t>
            </a:r>
            <a:endParaRPr lang="en-US" altLang="en-US"/>
          </a:p>
          <a:p>
            <a:pPr>
              <a:buFont typeface="Wingdings" panose="05000000000000000000" charset="0"/>
              <a:buChar char="ü"/>
            </a:pPr>
            <a:r>
              <a:rPr lang="en-US" altLang="en-US"/>
              <a:t>Admins need to add/edit courses.</a:t>
            </a:r>
            <a:endParaRPr lang="en-US" altLang="en-US"/>
          </a:p>
          <a:p>
            <a:pPr>
              <a:buFont typeface="Wingdings" panose="05000000000000000000" charset="0"/>
              <a:buChar char="ü"/>
            </a:pPr>
            <a:r>
              <a:rPr lang="en-US" altLang="en-US"/>
              <a:t>The system must be available </a:t>
            </a:r>
            <a:r>
              <a:rPr lang="en-US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24/7</a:t>
            </a:r>
            <a:r>
              <a:rPr lang="en-US" altLang="en-US"/>
              <a:t> and secure with login authentication.</a:t>
            </a: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7275195" cy="622300"/>
          </a:xfrm>
        </p:spPr>
        <p:txBody>
          <a:bodyPr/>
          <a:p>
            <a:pPr algn="l"/>
            <a:r>
              <a:rPr lang="en-US" altLang="en-US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1. Primary Data Collection</a:t>
            </a:r>
            <a:endParaRPr lang="en-US" altLang="en-US" b="1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229600" cy="4525963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/>
              <a:t>Primary data is original data collected directly from the source for the specific purpose of the system being developed. 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It is first-hand, up-to-date, and specific to the project.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27075"/>
          </a:xfrm>
        </p:spPr>
        <p:txBody>
          <a:bodyPr/>
          <a:p>
            <a:pPr algn="l"/>
            <a:r>
              <a:rPr lang="en-US" altLang="en-US" i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Methods:</a:t>
            </a:r>
            <a:endParaRPr lang="en-US" altLang="en-US" i="1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645" y="1084580"/>
            <a:ext cx="8463280" cy="5454650"/>
          </a:xfrm>
        </p:spPr>
        <p:txBody>
          <a:bodyPr/>
          <a:p>
            <a:pPr marL="0" indent="0">
              <a:buNone/>
            </a:pPr>
            <a:r>
              <a:rPr lang="en-US" altLang="en-US" sz="28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Interviews:</a:t>
            </a:r>
            <a:r>
              <a:rPr lang="en-US" altLang="en-US" sz="2800">
                <a:sym typeface="+mn-ea"/>
              </a:rPr>
              <a:t> Asking users, managers, or stakeholders about their requirements.</a:t>
            </a:r>
            <a:endParaRPr lang="en-US" altLang="en-US" sz="2800"/>
          </a:p>
          <a:p>
            <a:pPr>
              <a:buFont typeface="Wingdings" panose="05000000000000000000" charset="0"/>
              <a:buChar char="ü"/>
            </a:pPr>
            <a:r>
              <a:rPr lang="en-US" altLang="en-US" sz="2800">
                <a:sym typeface="+mn-ea"/>
              </a:rPr>
              <a:t>Interviewing teachers about student registration procedures.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sz="28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Questionnaires/Surveys:</a:t>
            </a:r>
            <a:r>
              <a:rPr lang="en-US" altLang="en-US" sz="2800">
                <a:sym typeface="+mn-ea"/>
              </a:rPr>
              <a:t> Collecting structured responses from many users.</a:t>
            </a:r>
            <a:endParaRPr lang="en-US" altLang="en-US" sz="2800"/>
          </a:p>
          <a:p>
            <a:pPr>
              <a:buFont typeface="Wingdings" panose="05000000000000000000" charset="0"/>
              <a:buChar char="ü"/>
            </a:pPr>
            <a:r>
              <a:rPr lang="en-US" altLang="en-US" sz="2800">
                <a:sym typeface="+mn-ea"/>
              </a:rPr>
              <a:t>Surveying students to know which features they want in a portal.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sz="28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Observation:</a:t>
            </a:r>
            <a:r>
              <a:rPr lang="en-US" altLang="en-US" sz="2800">
                <a:sym typeface="+mn-ea"/>
              </a:rPr>
              <a:t> Watching current processes in action.</a:t>
            </a:r>
            <a:endParaRPr lang="en-US" altLang="en-US" sz="2800"/>
          </a:p>
          <a:p>
            <a:pPr>
              <a:buFont typeface="Wingdings" panose="05000000000000000000" charset="0"/>
              <a:buChar char="ü"/>
            </a:pPr>
            <a:r>
              <a:rPr lang="en-US" altLang="en-US" sz="2800">
                <a:sym typeface="+mn-ea"/>
              </a:rPr>
              <a:t>Observing library staff to understand book issue and return workflows.</a:t>
            </a:r>
            <a:endParaRPr lang="en-US" altLang="en-US" sz="2800"/>
          </a:p>
          <a:p>
            <a:pPr marL="0" indent="0">
              <a:buNone/>
            </a:pPr>
            <a:endParaRPr lang="en-US" altLang="en-US" sz="2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34695"/>
          </a:xfrm>
        </p:spPr>
        <p:txBody>
          <a:bodyPr/>
          <a:p>
            <a:pPr algn="l"/>
            <a:r>
              <a:rPr lang="en-US" altLang="en-US" sz="40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2. Secondary Data Collection</a:t>
            </a:r>
            <a:endParaRPr lang="en-US" altLang="en-US" sz="40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210" y="1009650"/>
            <a:ext cx="8403590" cy="5116830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 sz="2800"/>
              <a:t>Secondary data is existing information that was collected previously for another purpose but can be used to inform system design.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sz="2800" u="sng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Sources</a:t>
            </a:r>
            <a:r>
              <a:rPr lang="en-US" altLang="en-US" sz="2800"/>
              <a:t>:</a:t>
            </a:r>
            <a:endParaRPr lang="en-US" altLang="en-US" sz="2800"/>
          </a:p>
          <a:p>
            <a:pPr>
              <a:buFont typeface="Wingdings" panose="05000000000000000000" charset="0"/>
              <a:buChar char="q"/>
            </a:pPr>
            <a:r>
              <a:rPr lang="en-US" altLang="en-US" sz="28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Documents and Reports:</a:t>
            </a:r>
            <a:r>
              <a:rPr lang="en-US" altLang="en-US" sz="2800"/>
              <a:t> Existing forms, manuals, and operational reports.</a:t>
            </a:r>
            <a:endParaRPr lang="en-US" altLang="en-US" sz="2800"/>
          </a:p>
          <a:p>
            <a:pPr>
              <a:buFont typeface="Wingdings" panose="05000000000000000000" charset="0"/>
              <a:buChar char="q"/>
            </a:pPr>
            <a:r>
              <a:rPr lang="en-US" altLang="en-US" sz="28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Databases:</a:t>
            </a:r>
            <a:r>
              <a:rPr lang="en-US" altLang="en-US" sz="2800"/>
              <a:t> Existing data stored in old systems.</a:t>
            </a:r>
            <a:endParaRPr lang="en-US" altLang="en-US" sz="2800"/>
          </a:p>
          <a:p>
            <a:pPr>
              <a:buFont typeface="Wingdings" panose="05000000000000000000" charset="0"/>
              <a:buChar char="q"/>
            </a:pPr>
            <a:r>
              <a:rPr lang="en-US" altLang="en-US" sz="28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Research Studies / Publications:</a:t>
            </a:r>
            <a:r>
              <a:rPr lang="en-US" altLang="en-US" sz="2800"/>
              <a:t> Reports or studies relevant to the domain.</a:t>
            </a:r>
            <a:endParaRPr lang="en-US" altLang="en-US" sz="2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altLang="en-US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3. Design Phase</a:t>
            </a:r>
            <a:endParaRPr lang="en-US" altLang="en-US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260" y="1251585"/>
            <a:ext cx="8590280" cy="5241290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 sz="2400"/>
              <a:t>Translating requirements into a blueprint for building the system.</a:t>
            </a:r>
            <a:endParaRPr lang="en-US" altLang="en-US" sz="2400"/>
          </a:p>
          <a:p>
            <a:pPr>
              <a:buFont typeface="Wingdings" panose="05000000000000000000" charset="0"/>
              <a:buChar char="Ø"/>
            </a:pPr>
            <a:r>
              <a:rPr lang="en-US" altLang="en-US" sz="2400"/>
              <a:t>Includes both </a:t>
            </a:r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design</a:t>
            </a:r>
            <a:r>
              <a:rPr lang="en-US" altLang="en-US" sz="2400"/>
              <a:t> (processes, data flow) and </a:t>
            </a:r>
            <a:r>
              <a:rPr lang="en-US" altLang="en-US" sz="2400">
                <a:solidFill>
                  <a:srgbClr val="FF0000"/>
                </a:solidFill>
              </a:rPr>
              <a:t>physical design</a:t>
            </a:r>
            <a:r>
              <a:rPr lang="en-US" altLang="en-US" sz="2400"/>
              <a:t> (database, UI, system architecture).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Activities:</a:t>
            </a:r>
            <a:endParaRPr lang="en-US" altLang="en-US" b="1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400"/>
              <a:t>Draw UML diagrams (use case, class, sequence).</a:t>
            </a:r>
            <a:endParaRPr lang="en-US" altLang="en-US" sz="2400"/>
          </a:p>
          <a:p>
            <a:pPr>
              <a:buFont typeface="Wingdings" panose="05000000000000000000" charset="0"/>
              <a:buChar char="ü"/>
            </a:pPr>
            <a:r>
              <a:rPr lang="en-US" altLang="en-US" sz="2400"/>
              <a:t>Create ERDs for database design.</a:t>
            </a:r>
            <a:endParaRPr lang="en-US" altLang="en-US" sz="2400"/>
          </a:p>
          <a:p>
            <a:pPr>
              <a:buFont typeface="Wingdings" panose="05000000000000000000" charset="0"/>
              <a:buChar char="ü"/>
            </a:pPr>
            <a:r>
              <a:rPr lang="en-US" altLang="en-US" sz="2400"/>
              <a:t>Design system architecture (hardware, software, network).</a:t>
            </a:r>
            <a:endParaRPr lang="en-US" altLang="en-US" sz="2400"/>
          </a:p>
          <a:p>
            <a:pPr>
              <a:buFont typeface="Wingdings" panose="05000000000000000000" charset="0"/>
              <a:buChar char="ü"/>
            </a:pPr>
            <a:r>
              <a:rPr lang="en-US" altLang="en-US" sz="2400"/>
              <a:t>Prepare user interface mockups.</a:t>
            </a:r>
            <a:endParaRPr lang="en-US" altLang="en-US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Example:</a:t>
            </a:r>
            <a:endParaRPr lang="en-US" altLang="en-US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altLang="en-US" sz="2400"/>
          </a:p>
          <a:p>
            <a:pPr>
              <a:buFont typeface="Wingdings" panose="05000000000000000000" charset="0"/>
              <a:buChar char="Ø"/>
            </a:pPr>
            <a:r>
              <a:rPr lang="en-US" altLang="en-US" sz="2400"/>
              <a:t>ERD with Student, Course, and Registration tables.</a:t>
            </a:r>
            <a:endParaRPr lang="en-US" altLang="en-US" sz="2400"/>
          </a:p>
          <a:p>
            <a:pPr marL="0" indent="0">
              <a:buFont typeface="Wingdings" panose="05000000000000000000" charset="0"/>
              <a:buNone/>
            </a:pPr>
            <a:endParaRPr lang="en-US" altLang="en-US" sz="2400"/>
          </a:p>
          <a:p>
            <a:pPr>
              <a:buFont typeface="Wingdings" panose="05000000000000000000" charset="0"/>
              <a:buChar char="Ø"/>
            </a:pPr>
            <a:r>
              <a:rPr lang="en-US" altLang="en-US" sz="2400"/>
              <a:t>Use Case Diagram: Student → Register for course.</a:t>
            </a:r>
            <a:endParaRPr lang="en-US" altLang="en-US" sz="2400"/>
          </a:p>
          <a:p>
            <a:pPr marL="0" indent="0">
              <a:buFont typeface="Wingdings" panose="05000000000000000000" charset="0"/>
              <a:buNone/>
            </a:pPr>
            <a:endParaRPr lang="en-US" altLang="en-US" sz="2400"/>
          </a:p>
          <a:p>
            <a:pPr>
              <a:buFont typeface="Wingdings" panose="05000000000000000000" charset="0"/>
              <a:buChar char="Ø"/>
            </a:pPr>
            <a:r>
              <a:rPr lang="en-US" altLang="en-US" sz="2400"/>
              <a:t>Interface design: Login page, registration form.</a:t>
            </a:r>
            <a:endParaRPr lang="en-US" altLang="en-US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366125" cy="1143000"/>
          </a:xfrm>
        </p:spPr>
        <p:txBody>
          <a:bodyPr/>
          <a:p>
            <a:pPr algn="l"/>
            <a:r>
              <a:rPr lang="en-US" altLang="en-US" sz="40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4. Implementation </a:t>
            </a:r>
            <a:r>
              <a:rPr lang="en-US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(Development) Phase</a:t>
            </a:r>
            <a:endParaRPr lang="en-US" altLang="en-US" sz="32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200" y="1600200"/>
            <a:ext cx="8536940" cy="4878070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 sz="2400"/>
              <a:t>Actual coding and development of the system based on the design.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3600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Activities:</a:t>
            </a:r>
            <a:endParaRPr lang="en-US" altLang="en-US" sz="3600"/>
          </a:p>
          <a:p>
            <a:pPr>
              <a:buFont typeface="Wingdings" panose="05000000000000000000" charset="0"/>
              <a:buChar char="ü"/>
            </a:pPr>
            <a:r>
              <a:rPr lang="en-US" altLang="en-US" sz="2400"/>
              <a:t>Developers write code using programming languages (e.g., Java, Python, PHP).</a:t>
            </a:r>
            <a:endParaRPr lang="en-US" altLang="en-US" sz="2400"/>
          </a:p>
          <a:p>
            <a:pPr>
              <a:buFont typeface="Wingdings" panose="05000000000000000000" charset="0"/>
              <a:buChar char="ü"/>
            </a:pPr>
            <a:r>
              <a:rPr lang="en-US" altLang="en-US" sz="2400"/>
              <a:t>Database is created.</a:t>
            </a:r>
            <a:endParaRPr lang="en-US" altLang="en-US" sz="2400"/>
          </a:p>
          <a:p>
            <a:pPr>
              <a:buFont typeface="Wingdings" panose="05000000000000000000" charset="0"/>
              <a:buChar char="ü"/>
            </a:pPr>
            <a:r>
              <a:rPr lang="en-US" altLang="en-US" sz="2400"/>
              <a:t>Integrate different modules.</a:t>
            </a:r>
            <a:endParaRPr lang="en-US" altLang="en-US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6894830" cy="956310"/>
          </a:xfrm>
        </p:spPr>
        <p:txBody>
          <a:bodyPr/>
          <a:p>
            <a:pPr algn="l"/>
            <a:r>
              <a:rPr lang="en-US" altLang="en-US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Example</a:t>
            </a:r>
            <a:r>
              <a:rPr lang="en-US" altLang="en-US">
                <a:sym typeface="+mn-ea"/>
              </a:rPr>
              <a:t>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360170"/>
            <a:ext cx="8464550" cy="4766310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/>
              <a:t>Developers create the login system using PHP.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Database in MySQL is set up with tables for students and courses.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Registration module is coded to check prerequisites.</a:t>
            </a:r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altLang="en-US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5. Testing Phase</a:t>
            </a:r>
            <a:endParaRPr lang="en-US" altLang="en-US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470" y="1327785"/>
            <a:ext cx="8355330" cy="479869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The system is tested to ensure it meets requirements and works correctly.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800" b="1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800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Activities:</a:t>
            </a:r>
            <a:endParaRPr lang="en-US" altLang="en-US" sz="2800" b="1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Unit testing (individual modules).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Integration testing (modules together).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System testing (whole system).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User Acceptance Testing (UAT).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altLang="en-US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6. Deployment Phase</a:t>
            </a:r>
            <a:endParaRPr lang="en-US" altLang="en-US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800" y="1442720"/>
            <a:ext cx="8255000" cy="4683760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 sz="2800"/>
              <a:t>Delivering the system to users for actual operation.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sz="2800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Activities:</a:t>
            </a:r>
            <a:endParaRPr lang="en-US" altLang="en-US" sz="2800" b="1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800"/>
              <a:t>Install system on production servers.</a:t>
            </a:r>
            <a:endParaRPr lang="en-US" altLang="en-US" sz="2800"/>
          </a:p>
          <a:p>
            <a:pPr>
              <a:buFont typeface="Wingdings" panose="05000000000000000000" charset="0"/>
              <a:buChar char="ü"/>
            </a:pPr>
            <a:r>
              <a:rPr lang="en-US" altLang="en-US" sz="2800"/>
              <a:t>Train users and provide manuals.</a:t>
            </a:r>
            <a:endParaRPr lang="en-US" altLang="en-US" sz="2800"/>
          </a:p>
          <a:p>
            <a:pPr>
              <a:buFont typeface="Wingdings" panose="05000000000000000000" charset="0"/>
              <a:buChar char="ü"/>
            </a:pPr>
            <a:r>
              <a:rPr lang="en-US" altLang="en-US" sz="2800"/>
              <a:t>Go-live (system becomes available for use).</a:t>
            </a:r>
            <a:endParaRPr lang="en-US" altLang="en-US"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Example:</a:t>
            </a:r>
            <a:endParaRPr lang="en-US" altLang="en-US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 sz="2800"/>
              <a:t>The registration system is deployed on the university server.</a:t>
            </a:r>
            <a:endParaRPr lang="en-US" altLang="en-US" sz="2800"/>
          </a:p>
          <a:p>
            <a:pPr>
              <a:buFont typeface="Wingdings" panose="05000000000000000000" charset="0"/>
              <a:buChar char="Ø"/>
            </a:pPr>
            <a:r>
              <a:rPr lang="en-US" altLang="en-US" sz="2800"/>
              <a:t>Students start using it to register for next semester.</a:t>
            </a:r>
            <a:endParaRPr lang="en-US" altLang="en-US" sz="2800"/>
          </a:p>
          <a:p>
            <a:pPr>
              <a:buFont typeface="Wingdings" panose="05000000000000000000" charset="0"/>
              <a:buChar char="Ø"/>
            </a:pPr>
            <a:r>
              <a:rPr lang="en-US" altLang="en-US" sz="2800"/>
              <a:t>Training sessions are given to staff.</a:t>
            </a:r>
            <a:endParaRPr lang="en-US" altLang="en-US" sz="2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altLang="en-US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7. Maintenance Phase</a:t>
            </a:r>
            <a:endParaRPr lang="en-US" altLang="en-US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865" y="1600200"/>
            <a:ext cx="8528685" cy="4526280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 sz="2800"/>
              <a:t>Ongoing support after deployment to fix problems, improve performance, and adapt to changes.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sz="2800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Activities:</a:t>
            </a:r>
            <a:endParaRPr lang="en-US" altLang="en-US" sz="2800" b="1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800"/>
              <a:t>Bug fixing.</a:t>
            </a:r>
            <a:endParaRPr lang="en-US" altLang="en-US" sz="2800"/>
          </a:p>
          <a:p>
            <a:pPr>
              <a:buFont typeface="Wingdings" panose="05000000000000000000" charset="0"/>
              <a:buChar char="ü"/>
            </a:pPr>
            <a:r>
              <a:rPr lang="en-US" altLang="en-US" sz="2800"/>
              <a:t>Adding new features.</a:t>
            </a:r>
            <a:endParaRPr lang="en-US" altLang="en-US" sz="2800"/>
          </a:p>
          <a:p>
            <a:pPr>
              <a:buFont typeface="Wingdings" panose="05000000000000000000" charset="0"/>
              <a:buChar char="ü"/>
            </a:pPr>
            <a:r>
              <a:rPr lang="en-US" altLang="en-US" sz="2800"/>
              <a:t>Performance optimization.</a:t>
            </a:r>
            <a:endParaRPr lang="en-US" altLang="en-US" sz="2800"/>
          </a:p>
          <a:p>
            <a:pPr>
              <a:buFont typeface="Wingdings" panose="05000000000000000000" charset="0"/>
              <a:buChar char="ü"/>
            </a:pPr>
            <a:r>
              <a:rPr lang="en-US" altLang="en-US" sz="2800"/>
              <a:t>Security updates.</a:t>
            </a:r>
            <a:endParaRPr lang="en-US" altLang="en-US" sz="2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Example:</a:t>
            </a:r>
            <a:endParaRPr lang="en-US" altLang="en-US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73110" cy="4526280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/>
              <a:t>Fix a bug where some </a:t>
            </a:r>
            <a:r>
              <a:rPr lang="en-US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courses are not displaying</a:t>
            </a:r>
            <a:r>
              <a:rPr lang="en-US" altLang="en-US"/>
              <a:t>.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Add a feature for </a:t>
            </a:r>
            <a:r>
              <a:rPr lang="en-US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online payment of fees.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Upgrade system security with </a:t>
            </a:r>
            <a:r>
              <a:rPr lang="en-US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stronger password rules</a:t>
            </a:r>
            <a:r>
              <a:rPr lang="en-US" altLang="en-US"/>
              <a:t>.</a:t>
            </a:r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altLang="en-US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8. Documentation</a:t>
            </a:r>
            <a:r>
              <a:rPr lang="en-US" altLang="en-US">
                <a:sym typeface="+mn-ea"/>
              </a:rPr>
              <a:t> </a:t>
            </a:r>
            <a:br>
              <a:rPr lang="en-US" altLang="en-US">
                <a:sym typeface="+mn-ea"/>
              </a:rPr>
            </a:br>
            <a:r>
              <a:rPr lang="en-US" altLang="en-US" sz="4000">
                <a:sym typeface="+mn-ea"/>
              </a:rPr>
              <a:t>(Cross-cutting Phase)</a:t>
            </a:r>
            <a:endParaRPr lang="en-US" altLang="en-US" sz="40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46135" cy="471106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 sz="2400"/>
              <a:t>Detailed </a:t>
            </a:r>
            <a:r>
              <a:rPr lang="en-US" altLang="en-US" sz="2400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recording </a:t>
            </a:r>
            <a:r>
              <a:rPr lang="en-US" altLang="en-US" sz="2400"/>
              <a:t>of the system at </a:t>
            </a:r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every stage of SDLC</a:t>
            </a:r>
            <a:r>
              <a:rPr lang="en-US" altLang="en-US" sz="2400"/>
              <a:t> for reference, training, and future improvements.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800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Documentation:</a:t>
            </a:r>
            <a:endParaRPr lang="en-US" altLang="en-US" sz="2800" b="1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Planning docs:</a:t>
            </a:r>
            <a:r>
              <a:rPr lang="en-US" altLang="en-US" sz="2400"/>
              <a:t> Feasibility reports, project plans.</a:t>
            </a:r>
            <a:endParaRPr lang="en-US" altLang="en-US" sz="2400"/>
          </a:p>
          <a:p>
            <a:pPr>
              <a:buFont typeface="Wingdings" panose="05000000000000000000" charset="0"/>
              <a:buChar char="ü"/>
            </a:pPr>
            <a:r>
              <a:rPr lang="en-US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Requirements docs:</a:t>
            </a:r>
            <a:r>
              <a:rPr lang="en-US" altLang="en-US" sz="2400"/>
              <a:t> Requirements specifications.</a:t>
            </a:r>
            <a:endParaRPr lang="en-US" altLang="en-US" sz="2400"/>
          </a:p>
          <a:p>
            <a:pPr>
              <a:buFont typeface="Wingdings" panose="05000000000000000000" charset="0"/>
              <a:buChar char="ü"/>
            </a:pPr>
            <a:r>
              <a:rPr lang="en-US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docs:</a:t>
            </a:r>
            <a:r>
              <a:rPr lang="en-US" altLang="en-US" sz="2400"/>
              <a:t> UML diagrams, ERDs, architecture designs.</a:t>
            </a:r>
            <a:endParaRPr lang="en-US" altLang="en-US" sz="2400"/>
          </a:p>
          <a:p>
            <a:pPr>
              <a:buFont typeface="Wingdings" panose="05000000000000000000" charset="0"/>
              <a:buChar char="ü"/>
            </a:pPr>
            <a:r>
              <a:rPr lang="en-US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Implementation docs: </a:t>
            </a:r>
            <a:r>
              <a:rPr lang="en-US" altLang="en-US" sz="2400"/>
              <a:t>Source code comments, technical manuals.</a:t>
            </a:r>
            <a:endParaRPr lang="en-US" altLang="en-US" sz="2400"/>
          </a:p>
          <a:p>
            <a:pPr>
              <a:buFont typeface="Wingdings" panose="05000000000000000000" charset="0"/>
              <a:buChar char="ü"/>
            </a:pPr>
            <a:r>
              <a:rPr lang="en-US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docs:</a:t>
            </a:r>
            <a:r>
              <a:rPr lang="en-US" altLang="en-US" sz="2400"/>
              <a:t> User manuals, help guides.</a:t>
            </a:r>
            <a:endParaRPr lang="en-US" altLang="en-US" sz="2400"/>
          </a:p>
          <a:p>
            <a:pPr>
              <a:buFont typeface="Wingdings" panose="05000000000000000000" charset="0"/>
              <a:buChar char="ü"/>
            </a:pPr>
            <a:r>
              <a:rPr lang="en-US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Maintenance docs:</a:t>
            </a:r>
            <a:r>
              <a:rPr lang="en-US" altLang="en-US" sz="2400"/>
              <a:t> Logs of changes, updates, bug fixes.</a:t>
            </a:r>
            <a:endParaRPr lang="en-US" altLang="en-US" sz="2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Summary</a:t>
            </a:r>
            <a:endParaRPr lang="en-US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260" y="1417955"/>
            <a:ext cx="8742045" cy="470852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 sz="24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Planning:</a:t>
            </a:r>
            <a:r>
              <a:rPr lang="en-US" altLang="en-US" sz="2400"/>
              <a:t> Decide to build the system.</a:t>
            </a:r>
            <a:endParaRPr lang="en-US" altLang="en-US" sz="2400"/>
          </a:p>
          <a:p>
            <a:pPr>
              <a:buFont typeface="Wingdings" panose="05000000000000000000" charset="0"/>
              <a:buChar char="Ø"/>
            </a:pPr>
            <a:r>
              <a:rPr lang="en-US" altLang="en-US" sz="24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Requirements:</a:t>
            </a:r>
            <a:r>
              <a:rPr lang="en-US" altLang="en-US" sz="2400"/>
              <a:t> Collect needs from students and admin.</a:t>
            </a:r>
            <a:endParaRPr lang="en-US" altLang="en-US" sz="2400"/>
          </a:p>
          <a:p>
            <a:pPr>
              <a:buFont typeface="Wingdings" panose="05000000000000000000" charset="0"/>
              <a:buChar char="Ø"/>
            </a:pPr>
            <a:r>
              <a:rPr lang="en-US" altLang="en-US" sz="24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Design:</a:t>
            </a:r>
            <a:r>
              <a:rPr lang="en-US" altLang="en-US" sz="2400"/>
              <a:t> Create diagrams, DB schema, UI mockups.</a:t>
            </a:r>
            <a:endParaRPr lang="en-US" altLang="en-US" sz="2400"/>
          </a:p>
          <a:p>
            <a:pPr>
              <a:buFont typeface="Wingdings" panose="05000000000000000000" charset="0"/>
              <a:buChar char="Ø"/>
            </a:pPr>
            <a:r>
              <a:rPr lang="en-US" altLang="en-US" sz="24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Implementation:</a:t>
            </a:r>
            <a:r>
              <a:rPr lang="en-US" altLang="en-US" sz="2400"/>
              <a:t> Developers code modules.</a:t>
            </a:r>
            <a:endParaRPr lang="en-US" altLang="en-US" sz="2400"/>
          </a:p>
          <a:p>
            <a:pPr>
              <a:buFont typeface="Wingdings" panose="05000000000000000000" charset="0"/>
              <a:buChar char="Ø"/>
            </a:pPr>
            <a:r>
              <a:rPr lang="en-US" altLang="en-US" sz="24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Testing:</a:t>
            </a:r>
            <a:r>
              <a:rPr lang="en-US" altLang="en-US" sz="2400"/>
              <a:t> Verify system works as expected.</a:t>
            </a:r>
            <a:endParaRPr lang="en-US" altLang="en-US" sz="2400"/>
          </a:p>
          <a:p>
            <a:pPr>
              <a:buFont typeface="Wingdings" panose="05000000000000000000" charset="0"/>
              <a:buChar char="Ø"/>
            </a:pPr>
            <a:r>
              <a:rPr lang="en-US" altLang="en-US" sz="24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Deployment:</a:t>
            </a:r>
            <a:r>
              <a:rPr lang="en-US" altLang="en-US" sz="2400"/>
              <a:t> Install system for real use.</a:t>
            </a:r>
            <a:endParaRPr lang="en-US" altLang="en-US" sz="2400"/>
          </a:p>
          <a:p>
            <a:pPr>
              <a:buFont typeface="Wingdings" panose="05000000000000000000" charset="0"/>
              <a:buChar char="Ø"/>
            </a:pPr>
            <a:r>
              <a:rPr lang="en-US" altLang="en-US" sz="24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Maintenance:</a:t>
            </a:r>
            <a:r>
              <a:rPr lang="en-US" altLang="en-US" sz="2400"/>
              <a:t> Fix bugs, add features.</a:t>
            </a:r>
            <a:endParaRPr lang="en-US" altLang="en-US" sz="2400"/>
          </a:p>
          <a:p>
            <a:pPr>
              <a:buFont typeface="Wingdings" panose="05000000000000000000" charset="0"/>
              <a:buChar char="Ø"/>
            </a:pPr>
            <a:r>
              <a:rPr lang="en-US" altLang="en-US" sz="24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Documentation:</a:t>
            </a:r>
            <a:r>
              <a:rPr lang="en-US" altLang="en-US" sz="2400"/>
              <a:t> Manuals, reports, diagrams.</a:t>
            </a:r>
            <a:endParaRPr lang="en-US" altLang="en-US"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6916420" cy="790575"/>
          </a:xfrm>
        </p:spPr>
        <p:txBody>
          <a:bodyPr/>
          <a:p>
            <a:pPr algn="l"/>
            <a:r>
              <a:rPr lang="en-US" altLang="en-US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Stakeholders</a:t>
            </a:r>
            <a:endParaRPr lang="en-US" altLang="en-US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760" y="971550"/>
            <a:ext cx="8621395" cy="5598160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 sz="2400"/>
              <a:t>Stakeholders are </a:t>
            </a:r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individuals</a:t>
            </a:r>
            <a:r>
              <a:rPr lang="en-US" altLang="en-US" sz="2400"/>
              <a:t> or </a:t>
            </a:r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groups</a:t>
            </a:r>
            <a:r>
              <a:rPr lang="en-US" altLang="en-US" sz="2400"/>
              <a:t> who have an interest in the success or outcome of a system or project.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Stakeholders:</a:t>
            </a:r>
            <a:endParaRPr lang="en-US" altLang="en-US" sz="2400"/>
          </a:p>
          <a:p>
            <a:pPr>
              <a:buFont typeface="Wingdings" panose="05000000000000000000" charset="0"/>
              <a:buChar char="ü"/>
            </a:pPr>
            <a:r>
              <a:rPr lang="en-US" altLang="en-US" sz="240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Internal stakeholders</a:t>
            </a:r>
            <a:r>
              <a:rPr lang="en-US" altLang="en-US" sz="2400"/>
              <a:t> → Students, instructors, administrators, employees, IT staff.</a:t>
            </a:r>
            <a:endParaRPr lang="en-US" altLang="en-US" sz="2400"/>
          </a:p>
          <a:p>
            <a:pPr>
              <a:buFont typeface="Wingdings" panose="05000000000000000000" charset="0"/>
              <a:buChar char="ü"/>
            </a:pPr>
            <a:r>
              <a:rPr lang="en-US" altLang="en-US" sz="240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External stakeholders</a:t>
            </a:r>
            <a:r>
              <a:rPr lang="en-US" altLang="en-US" sz="2400"/>
              <a:t> → Customers, suppliers, government agencies.</a:t>
            </a:r>
            <a:endParaRPr lang="en-US" altLang="en-US" sz="2400"/>
          </a:p>
          <a:p>
            <a:pPr>
              <a:buFont typeface="Wingdings" panose="05000000000000000000" charset="0"/>
              <a:buChar char="ü"/>
            </a:pPr>
            <a:r>
              <a:rPr lang="en-US" altLang="en-US" sz="240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Primary stakeholders</a:t>
            </a:r>
            <a:r>
              <a:rPr lang="en-US" altLang="en-US" sz="2400"/>
              <a:t> → Direct users of the system (e.g., students using a registration system).</a:t>
            </a:r>
            <a:endParaRPr lang="en-US" altLang="en-US" sz="2400"/>
          </a:p>
          <a:p>
            <a:pPr>
              <a:buFont typeface="Wingdings" panose="05000000000000000000" charset="0"/>
              <a:buChar char="ü"/>
            </a:pPr>
            <a:r>
              <a:rPr lang="en-US" altLang="en-US" sz="2400">
                <a:solidFill>
                  <a:srgbClr val="7030A0"/>
                </a:solidFill>
              </a:rPr>
              <a:t>Secondary stakeholders</a:t>
            </a:r>
            <a:r>
              <a:rPr lang="en-US" altLang="en-US" sz="2400"/>
              <a:t> → Indirectly affected (e.g., finance office that monitors payments).</a:t>
            </a:r>
            <a:endParaRPr lang="en-US" altLang="en-US"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56310"/>
          </a:xfrm>
        </p:spPr>
        <p:txBody>
          <a:bodyPr/>
          <a:p>
            <a:pPr algn="l"/>
            <a:r>
              <a:rPr lang="en-US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Team Composition</a:t>
            </a:r>
            <a:endParaRPr lang="en-US" altLang="en-US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75" y="1360170"/>
            <a:ext cx="8340725" cy="4766310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 sz="2800"/>
              <a:t>The structure of the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</a:t>
            </a:r>
            <a:r>
              <a:rPr lang="en-US" altLang="en-US" sz="2800"/>
              <a:t>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</a:t>
            </a:r>
            <a:r>
              <a:rPr lang="en-US" altLang="en-US" sz="2800"/>
              <a:t>responsible for planning, designing, developing, testing, and maintaining the system.</a:t>
            </a:r>
            <a:endParaRPr lang="en-US" altLang="en-US" sz="2800"/>
          </a:p>
          <a:p>
            <a:pPr marL="0" indent="0">
              <a:buFont typeface="Wingdings" panose="05000000000000000000" charset="0"/>
              <a:buNone/>
            </a:pPr>
            <a:endParaRPr lang="en-US" altLang="en-US" sz="280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8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a student registration system:</a:t>
            </a:r>
            <a:endParaRPr lang="en-US" altLang="en-US" sz="280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800"/>
              <a:t>1 Project Manager, 2 System Analysts, 2 Developers, 1 Database Administrator, 1 Tester, 1 Trainer.</a:t>
            </a:r>
            <a:endParaRPr lang="en-US" altLang="en-US" sz="2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l"/>
            <a:r>
              <a:rPr lang="en-US" altLang="en-US" sz="3900" dirty="0">
                <a:sym typeface="+mn-ea"/>
              </a:rPr>
              <a:t>Who participates in the project</a:t>
            </a:r>
            <a:endParaRPr lang="en-US" altLang="en-US" sz="3900" dirty="0"/>
          </a:p>
        </p:txBody>
      </p:sp>
      <p:pic>
        <p:nvPicPr>
          <p:cNvPr id="17412" name="Picture 8" descr="Fig12-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95400"/>
            <a:ext cx="6640830" cy="491553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</p:pic>
      <p:sp>
        <p:nvSpPr>
          <p:cNvPr id="17414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5pPr>
          </a:lstStyle>
          <a:p>
            <a:pPr lvl="0" algn="r">
              <a:spcBef>
                <a:spcPct val="50000"/>
              </a:spcBef>
              <a:buNone/>
            </a:pPr>
            <a:fld id="{9A0DB2DC-4C9A-4742-B13C-FB6460FD3503}" type="slidenum">
              <a:rPr lang="en-US" altLang="en-US" sz="1400" dirty="0">
                <a:latin typeface="Arial Narrow" panose="020B0606020202030204" pitchFamily="34" charset="0"/>
              </a:rPr>
            </a:fld>
            <a:endParaRPr lang="en-US" altLang="en-US" sz="14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589915"/>
          </a:xfrm>
        </p:spPr>
        <p:txBody>
          <a:bodyPr/>
          <a:p>
            <a:pPr algn="l"/>
            <a:r>
              <a:rPr lang="en-US" altLang="en-US"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Roles in Project Team:</a:t>
            </a:r>
            <a:endParaRPr lang="en-US" altLang="en-US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775" y="1040765"/>
            <a:ext cx="8660765" cy="5605145"/>
          </a:xfrm>
        </p:spPr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Manager</a:t>
            </a:r>
            <a:r>
              <a:rPr lang="en-US" altLang="en-US" sz="2000"/>
              <a:t> → Oversees planning, scheduling, and coordination.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Analyst</a:t>
            </a:r>
            <a:r>
              <a:rPr lang="en-US" altLang="en-US" sz="2000" b="1">
                <a:solidFill>
                  <a:srgbClr val="002060"/>
                </a:solidFill>
              </a:rPr>
              <a:t> </a:t>
            </a:r>
            <a:r>
              <a:rPr lang="en-US" altLang="en-US" sz="2000"/>
              <a:t>→ Bridges communication between stakeholders and developers; gathers requirements.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Designer</a:t>
            </a:r>
            <a:r>
              <a:rPr lang="en-US" altLang="en-US" sz="2000" b="1">
                <a:solidFill>
                  <a:srgbClr val="002060"/>
                </a:solidFill>
              </a:rPr>
              <a:t> </a:t>
            </a:r>
            <a:r>
              <a:rPr lang="en-US" altLang="en-US" sz="2000"/>
              <a:t>→ Designs architecture, databases, and user interfaces.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Developers/Programmers</a:t>
            </a:r>
            <a:r>
              <a:rPr lang="en-US" altLang="en-US" sz="1800"/>
              <a:t> </a:t>
            </a:r>
            <a:r>
              <a:rPr lang="en-US" altLang="en-US" sz="2000"/>
              <a:t>→ Write and implement the system code.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 Administrator (DBA) </a:t>
            </a:r>
            <a:r>
              <a:rPr lang="en-US" altLang="en-US" sz="2000"/>
              <a:t>→ Manages database design and security.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Tester/Quality Assurance (QA)</a:t>
            </a:r>
            <a:r>
              <a:rPr lang="en-US" altLang="en-US" sz="2000"/>
              <a:t> → Ensures system works correctly and meets requirements.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End-user Representative</a:t>
            </a:r>
            <a:r>
              <a:rPr lang="en-US" altLang="en-US" sz="200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sz="2000"/>
              <a:t>→ Provides feedback on usability and system functions.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Support &amp; Maintenance Staff</a:t>
            </a:r>
            <a:r>
              <a:rPr lang="en-US" altLang="en-US" sz="2000"/>
              <a:t> → Handle issues after deployment.</a:t>
            </a:r>
            <a:endParaRPr lang="en-US" altLang="en-US" sz="2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3" name="Rectangle 11"/>
          <p:cNvSpPr/>
          <p:nvPr/>
        </p:nvSpPr>
        <p:spPr>
          <a:xfrm>
            <a:off x="1516380" y="1692275"/>
            <a:ext cx="5863590" cy="3201670"/>
          </a:xfrm>
          <a:prstGeom prst="rect">
            <a:avLst/>
          </a:prstGeom>
          <a:solidFill>
            <a:srgbClr val="993366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Left">
              <a:rot lat="0" lon="0" rev="0"/>
            </a:camera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993366"/>
            </a:extrusionClr>
          </a:sp3d>
        </p:spPr>
        <p:txBody>
          <a:bodyPr anchor="ctr" anchorCtr="0">
            <a:flatTx/>
          </a:bodyPr>
          <a:p>
            <a:pPr algn="ctr">
              <a:spcBef>
                <a:spcPct val="20000"/>
              </a:spcBef>
              <a:buClr>
                <a:schemeClr val="accent1"/>
              </a:buClr>
              <a:buSzPct val="80000"/>
              <a:buFont typeface="Monotype Sorts" pitchFamily="2" charset="2"/>
            </a:pPr>
            <a:r>
              <a:rPr lang="en-US" altLang="en-US" sz="6600" b="1" dirty="0">
                <a:solidFill>
                  <a:srgbClr val="FFFFCC"/>
                </a:solidFill>
                <a:latin typeface="Times New Roman" panose="02020603050405020304" charset="0"/>
              </a:rPr>
              <a:t>Thanks!!!</a:t>
            </a:r>
            <a:endParaRPr lang="en-US" altLang="en-US" sz="6600" b="1" dirty="0">
              <a:solidFill>
                <a:srgbClr val="FFFFCC"/>
              </a:solidFill>
              <a:latin typeface="Times New Roman" panose="02020603050405020304" charset="0"/>
            </a:endParaRPr>
          </a:p>
        </p:txBody>
      </p:sp>
      <p:sp>
        <p:nvSpPr>
          <p:cNvPr id="81925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5pPr>
          </a:lstStyle>
          <a:p>
            <a:pPr lvl="0" algn="r">
              <a:spcBef>
                <a:spcPct val="50000"/>
              </a:spcBef>
              <a:buNone/>
            </a:pPr>
            <a:fld id="{9A0DB2DC-4C9A-4742-B13C-FB6460FD3503}" type="slidenum">
              <a:rPr lang="en-US" altLang="en-US" sz="1400" dirty="0">
                <a:latin typeface="Arial Narrow" panose="020B0606020202030204" pitchFamily="34" charset="0"/>
              </a:rPr>
            </a:fld>
            <a:endParaRPr lang="en-US" altLang="en-US" sz="14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Y:\Thompson\CTI-P-04\DesignTemplates\dt4.pot</Template>
  <TotalTime>0</TotalTime>
  <Words>8564</Words>
  <Application>WPS Presentation</Application>
  <PresentationFormat>On-screen Show (4:3)</PresentationFormat>
  <Paragraphs>268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4" baseType="lpstr">
      <vt:lpstr>Arial</vt:lpstr>
      <vt:lpstr>SimSun</vt:lpstr>
      <vt:lpstr>Wingdings</vt:lpstr>
      <vt:lpstr>Times</vt:lpstr>
      <vt:lpstr>Times New Roman</vt:lpstr>
      <vt:lpstr>Arial Narrow</vt:lpstr>
      <vt:lpstr>Bahnschrift SemiCondensed</vt:lpstr>
      <vt:lpstr>Tahoma</vt:lpstr>
      <vt:lpstr>Symbol</vt:lpstr>
      <vt:lpstr>Calibri</vt:lpstr>
      <vt:lpstr>Wingdings 2</vt:lpstr>
      <vt:lpstr>Verdana</vt:lpstr>
      <vt:lpstr>Arial (W1)</vt:lpstr>
      <vt:lpstr>Arial Unicode MS</vt:lpstr>
      <vt:lpstr>Monotype Sorts</vt:lpstr>
      <vt:lpstr>Microsoft YaHei</vt:lpstr>
      <vt:lpstr>Arial Unicode MS</vt:lpstr>
      <vt:lpstr>Wingdings</vt:lpstr>
      <vt:lpstr>Bahnschrift SemiBold Condensed</vt:lpstr>
      <vt:lpstr>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System Development Life Cycle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System Development Life Cycle</dc:title>
  <dc:creator>PC2_DESKTOP</dc:creator>
  <cp:lastModifiedBy>Beki</cp:lastModifiedBy>
  <cp:revision>340</cp:revision>
  <dcterms:created xsi:type="dcterms:W3CDTF">2003-01-02T18:50:00Z</dcterms:created>
  <dcterms:modified xsi:type="dcterms:W3CDTF">2025-09-28T10:18:32Z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D13C476B54CD468A81FC5977B591E0CE_12</vt:lpwstr>
  </property>
  <property fmtid="{D5CDD505-2E9C-101B-9397-08002B2CF9AE}" pid="3" name="KSOProductBuildVer">
    <vt:lpwstr>1033-12.2.0.23131</vt:lpwstr>
  </property>
</Properties>
</file>